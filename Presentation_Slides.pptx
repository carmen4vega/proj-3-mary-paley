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Catamaran"/>
      <p:regular r:id="rId31"/>
      <p:bold r:id="rId32"/>
    </p:embeddedFont>
    <p:embeddedFont>
      <p:font typeface="Roboto"/>
      <p:regular r:id="rId33"/>
      <p:bold r:id="rId34"/>
      <p:italic r:id="rId35"/>
      <p:boldItalic r:id="rId36"/>
    </p:embeddedFont>
    <p:embeddedFont>
      <p:font typeface="Livvic Light"/>
      <p:regular r:id="rId37"/>
      <p:bold r:id="rId38"/>
      <p:italic r:id="rId39"/>
      <p:boldItalic r:id="rId40"/>
    </p:embeddedFont>
    <p:embeddedFont>
      <p:font typeface="Fira Sans Extra Condensed Medium"/>
      <p:regular r:id="rId41"/>
      <p:bold r:id="rId42"/>
      <p:italic r:id="rId43"/>
      <p:boldItalic r:id="rId44"/>
    </p:embeddedFont>
    <p:embeddedFont>
      <p:font typeface="Urbanist SemiBold"/>
      <p:regular r:id="rId45"/>
      <p:bold r:id="rId46"/>
      <p:italic r:id="rId47"/>
      <p:boldItalic r:id="rId48"/>
    </p:embeddedFont>
    <p:embeddedFont>
      <p:font typeface="Livvic"/>
      <p:regular r:id="rId49"/>
      <p:bold r:id="rId50"/>
      <p:italic r:id="rId51"/>
      <p:boldItalic r:id="rId52"/>
    </p:embeddedFont>
    <p:embeddedFont>
      <p:font typeface="Urbanist Black"/>
      <p:bold r:id="rId53"/>
      <p:boldItalic r:id="rId54"/>
    </p:embeddedFont>
    <p:embeddedFont>
      <p:font typeface="Catamaran Light"/>
      <p:regular r:id="rId55"/>
      <p:bold r:id="rId56"/>
    </p:embeddedFont>
    <p:embeddedFont>
      <p:font typeface="Oswald"/>
      <p:regular r:id="rId57"/>
      <p:bold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88EAEF-F006-4E93-822F-C438E4EB62B6}">
  <a:tblStyle styleId="{F688EAEF-F006-4E93-822F-C438E4EB62B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LivvicLight-boldItalic.fntdata"/><Relationship Id="rId42" Type="http://schemas.openxmlformats.org/officeDocument/2006/relationships/font" Target="fonts/FiraSansExtraCondensedMedium-bold.fntdata"/><Relationship Id="rId41" Type="http://schemas.openxmlformats.org/officeDocument/2006/relationships/font" Target="fonts/FiraSansExtraCondensedMedium-regular.fntdata"/><Relationship Id="rId44" Type="http://schemas.openxmlformats.org/officeDocument/2006/relationships/font" Target="fonts/FiraSansExtraCondensedMedium-boldItalic.fntdata"/><Relationship Id="rId43" Type="http://schemas.openxmlformats.org/officeDocument/2006/relationships/font" Target="fonts/FiraSansExtraCondensedMedium-italic.fntdata"/><Relationship Id="rId46" Type="http://schemas.openxmlformats.org/officeDocument/2006/relationships/font" Target="fonts/UrbanistSemiBold-bold.fntdata"/><Relationship Id="rId45" Type="http://schemas.openxmlformats.org/officeDocument/2006/relationships/font" Target="fonts/UrbanistSemiBol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rbanistSemiBold-boldItalic.fntdata"/><Relationship Id="rId47" Type="http://schemas.openxmlformats.org/officeDocument/2006/relationships/font" Target="fonts/UrbanistSemiBold-italic.fntdata"/><Relationship Id="rId49" Type="http://schemas.openxmlformats.org/officeDocument/2006/relationships/font" Target="fonts/Livvic-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tamaran-regular.fntdata"/><Relationship Id="rId30" Type="http://schemas.openxmlformats.org/officeDocument/2006/relationships/slide" Target="slides/slide25.xml"/><Relationship Id="rId33" Type="http://schemas.openxmlformats.org/officeDocument/2006/relationships/font" Target="fonts/Roboto-regular.fntdata"/><Relationship Id="rId32" Type="http://schemas.openxmlformats.org/officeDocument/2006/relationships/font" Target="fonts/Catamaran-bold.fntdata"/><Relationship Id="rId35" Type="http://schemas.openxmlformats.org/officeDocument/2006/relationships/font" Target="fonts/Roboto-italic.fntdata"/><Relationship Id="rId34" Type="http://schemas.openxmlformats.org/officeDocument/2006/relationships/font" Target="fonts/Roboto-bold.fntdata"/><Relationship Id="rId37" Type="http://schemas.openxmlformats.org/officeDocument/2006/relationships/font" Target="fonts/LivvicLight-regular.fntdata"/><Relationship Id="rId36" Type="http://schemas.openxmlformats.org/officeDocument/2006/relationships/font" Target="fonts/Roboto-boldItalic.fntdata"/><Relationship Id="rId39" Type="http://schemas.openxmlformats.org/officeDocument/2006/relationships/font" Target="fonts/LivvicLight-italic.fntdata"/><Relationship Id="rId38" Type="http://schemas.openxmlformats.org/officeDocument/2006/relationships/font" Target="fonts/LivvicLight-bold.fntdata"/><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ivvic-italic.fntdata"/><Relationship Id="rId50" Type="http://schemas.openxmlformats.org/officeDocument/2006/relationships/font" Target="fonts/Livvic-bold.fntdata"/><Relationship Id="rId53" Type="http://schemas.openxmlformats.org/officeDocument/2006/relationships/font" Target="fonts/UrbanistBlack-bold.fntdata"/><Relationship Id="rId52" Type="http://schemas.openxmlformats.org/officeDocument/2006/relationships/font" Target="fonts/Livvic-boldItalic.fntdata"/><Relationship Id="rId11" Type="http://schemas.openxmlformats.org/officeDocument/2006/relationships/slide" Target="slides/slide6.xml"/><Relationship Id="rId55" Type="http://schemas.openxmlformats.org/officeDocument/2006/relationships/font" Target="fonts/CatamaranLight-regular.fntdata"/><Relationship Id="rId10" Type="http://schemas.openxmlformats.org/officeDocument/2006/relationships/slide" Target="slides/slide5.xml"/><Relationship Id="rId54" Type="http://schemas.openxmlformats.org/officeDocument/2006/relationships/font" Target="fonts/UrbanistBlack-boldItalic.fntdata"/><Relationship Id="rId13" Type="http://schemas.openxmlformats.org/officeDocument/2006/relationships/slide" Target="slides/slide8.xml"/><Relationship Id="rId57" Type="http://schemas.openxmlformats.org/officeDocument/2006/relationships/font" Target="fonts/Oswald-regular.fntdata"/><Relationship Id="rId12" Type="http://schemas.openxmlformats.org/officeDocument/2006/relationships/slide" Target="slides/slide7.xml"/><Relationship Id="rId56" Type="http://schemas.openxmlformats.org/officeDocument/2006/relationships/font" Target="fonts/CatamaranLight-bold.fntdata"/><Relationship Id="rId15" Type="http://schemas.openxmlformats.org/officeDocument/2006/relationships/slide" Target="slides/slide10.xml"/><Relationship Id="rId59" Type="http://schemas.openxmlformats.org/officeDocument/2006/relationships/font" Target="fonts/RobotoMono-regular.fntdata"/><Relationship Id="rId14" Type="http://schemas.openxmlformats.org/officeDocument/2006/relationships/slide" Target="slides/slide9.xml"/><Relationship Id="rId58" Type="http://schemas.openxmlformats.org/officeDocument/2006/relationships/font" Target="fonts/Oswa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ieldgap.org/uganda"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Rania (1-5)</a:t>
            </a:r>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Hello—our presentation focuses on how rainfall variability in Uganda affects food demand and consumption patterns across households.</a:t>
            </a:r>
            <a:br>
              <a:rPr lang="en">
                <a:solidFill>
                  <a:schemeClr val="dk1"/>
                </a:solidFill>
              </a:rPr>
            </a:br>
            <a:r>
              <a:rPr lang="en">
                <a:solidFill>
                  <a:schemeClr val="dk1"/>
                </a:solidFill>
              </a:rPr>
              <a:t> Our team includes Carmen, Emily, Mario, Jing, and me—Rania.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e13d9a7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3e13d9a7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structured our project around three main goals: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Interpret household food demand</a:t>
            </a:r>
            <a:r>
              <a:rPr lang="en">
                <a:solidFill>
                  <a:schemeClr val="dk1"/>
                </a:solidFill>
              </a:rPr>
              <a:t>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Analyze climate shocks</a:t>
            </a:r>
            <a:r>
              <a:rPr lang="en">
                <a:solidFill>
                  <a:schemeClr val="dk1"/>
                </a:solidFill>
              </a:rPr>
              <a:t>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Identify drivers of food insecurity</a:t>
            </a:r>
            <a:endParaRPr>
              <a:solidFill>
                <a:srgbClr val="3C404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a6ed9e1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a6ed9e1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care about rainfall because over 70% of food production in Uganda is rain-fed.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9cfc006e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9cfc006e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Uganda’s economy is deeply tied to agriculture, with over 70% of the population working in the sector.</a:t>
            </a:r>
            <a:br>
              <a:rPr lang="en">
                <a:solidFill>
                  <a:schemeClr val="dk1"/>
                </a:solidFill>
              </a:rPr>
            </a:br>
            <a:r>
              <a:rPr lang="en">
                <a:solidFill>
                  <a:schemeClr val="dk1"/>
                </a:solidFill>
              </a:rPr>
              <a:t> Most farms rely on seasonal rain, making them vulnerable to droughts and floods.</a:t>
            </a:r>
            <a:br>
              <a:rPr lang="en">
                <a:solidFill>
                  <a:schemeClr val="dk1"/>
                </a:solidFill>
              </a:rPr>
            </a:br>
            <a:r>
              <a:rPr lang="en">
                <a:solidFill>
                  <a:schemeClr val="dk1"/>
                </a:solidFill>
              </a:rPr>
              <a:t> These frequent wet and dry cycles disrupt production and shift how households eat and spend.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5465e7bc0b_1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5465e7bc0b_1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Within our dataset, we identified wet and dry years in two ways: by looking at total annual rainfall and by isolating extreme months.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driest years</a:t>
            </a:r>
            <a:r>
              <a:rPr lang="en">
                <a:solidFill>
                  <a:schemeClr val="dk1"/>
                </a:solidFill>
              </a:rPr>
              <a:t> based on annual precipitation were 2005–06, which recorded just 1168 mm.</a:t>
            </a:r>
            <a:br>
              <a:rPr lang="en">
                <a:solidFill>
                  <a:schemeClr val="dk1"/>
                </a:solidFill>
              </a:rPr>
            </a:br>
            <a:r>
              <a:rPr lang="en">
                <a:solidFill>
                  <a:schemeClr val="dk1"/>
                </a:solidFill>
              </a:rPr>
              <a:t> The </a:t>
            </a:r>
            <a:r>
              <a:rPr b="1" lang="en">
                <a:solidFill>
                  <a:schemeClr val="dk1"/>
                </a:solidFill>
              </a:rPr>
              <a:t>wettest years</a:t>
            </a:r>
            <a:r>
              <a:rPr lang="en">
                <a:solidFill>
                  <a:schemeClr val="dk1"/>
                </a:solidFill>
              </a:rPr>
              <a:t> were 2018–19, with rainfall reaching 1443 mm.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annual totals can miss short-term extremes—so we also examined periods like </a:t>
            </a:r>
            <a:r>
              <a:rPr b="1" lang="en">
                <a:solidFill>
                  <a:schemeClr val="dk1"/>
                </a:solidFill>
              </a:rPr>
              <a:t>2010–11</a:t>
            </a:r>
            <a:r>
              <a:rPr lang="en">
                <a:solidFill>
                  <a:schemeClr val="dk1"/>
                </a:solidFill>
              </a:rPr>
              <a:t>, where multiple months fell below the long-term average, leading to an agricultural drought.</a:t>
            </a:r>
            <a:br>
              <a:rPr lang="en">
                <a:solidFill>
                  <a:schemeClr val="dk1"/>
                </a:solidFill>
              </a:rPr>
            </a:br>
            <a:r>
              <a:rPr lang="en">
                <a:solidFill>
                  <a:schemeClr val="dk1"/>
                </a:solidFill>
              </a:rPr>
              <a:t> That was confirmed by Uganda’s Office of the Prime Minister, which tracked crop water deficits during that time.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Meanwhile, </a:t>
            </a:r>
            <a:r>
              <a:rPr b="1" lang="en">
                <a:solidFill>
                  <a:schemeClr val="dk1"/>
                </a:solidFill>
              </a:rPr>
              <a:t>2015–16</a:t>
            </a:r>
            <a:r>
              <a:rPr lang="en">
                <a:solidFill>
                  <a:schemeClr val="dk1"/>
                </a:solidFill>
              </a:rPr>
              <a:t> marked a highly wet period, driven by the El Niño event, which tends to bring more rainfall to Eastern Africa.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a6ed9e1e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a6ed9e1e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Carmen 6-7</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To characterize the household food demand climate in Uganda, we estimated a food demand system for our population.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bedecf59a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bedecf59a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CARMEN: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To begin our data analysis, we first needed to obtain data in several different formats. We imported Ugandan data from Google sheets by downloading each sheet as a csv file and then importing the sheets as pandas dataframes on Datahub. In total, we created six different datasets: one </a:t>
            </a:r>
            <a:r>
              <a:rPr lang="en">
                <a:solidFill>
                  <a:schemeClr val="dk1"/>
                </a:solidFill>
              </a:rPr>
              <a:t>for expenditures, food prices, consumption, household characteristics, a food conversion table, and a recommended daily intakes table. In order to format our data in a way in which we could perform our analysis, we indexed each table by specific parameters using the pivot table function. Our parameters included a unique household index, time periods, markets, food names, household characteristics, units, nutrients. All of this data was obtained for the following years in Uganda. While there are some year gaps where we did not have data, we still attempted to draw conclusions from the data we could work with.</a:t>
            </a:r>
            <a:endParaRPr sz="1000">
              <a:solidFill>
                <a:srgbClr val="434343"/>
              </a:solidFill>
              <a:latin typeface="Catamaran Light"/>
              <a:ea typeface="Catamaran Light"/>
              <a:cs typeface="Catamaran Light"/>
              <a:sym typeface="Catamaran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5522eb7919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5522eb7919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CARMEN: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t>
            </a:r>
            <a:r>
              <a:rPr lang="en"/>
              <a:t>understand</a:t>
            </a:r>
            <a:r>
              <a:rPr lang="en"/>
              <a:t> how </a:t>
            </a:r>
            <a:r>
              <a:rPr lang="en"/>
              <a:t>households</a:t>
            </a:r>
            <a:r>
              <a:rPr lang="en"/>
              <a:t> allocated expenditures across food categories, we designed an estimate demand system. In our regression model, we began with two known parameters: the log expenditures for each household, and individual </a:t>
            </a:r>
            <a:r>
              <a:rPr lang="en"/>
              <a:t>household</a:t>
            </a:r>
            <a:r>
              <a:rPr lang="en"/>
              <a:t> characteristics. Using the cfe module, we designed a regression based on our dataframes. After confirming the validity of our regression by graphing our predicted and expected y-values, as well as ensuring a high R-squared value, we then estimated the unknown parameters of our model. The parameters we estimated were relative income elasticity, demand and household composition, and welfare. Finally, we interpreted our demand system by visualizing demand as a function of prices, engel curves, and an indirect utility function. We performed this estimation across all the years we had data for.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49cfc006e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49cfc006e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Emily 8-11</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a:solidFill>
                  <a:schemeClr val="dk1"/>
                </a:solidFill>
                <a:latin typeface="Times New Roman"/>
                <a:ea typeface="Times New Roman"/>
                <a:cs typeface="Times New Roman"/>
                <a:sym typeface="Times New Roman"/>
              </a:rPr>
              <a:t>We looked into the demand and price curves because c</a:t>
            </a:r>
            <a:r>
              <a:rPr lang="en">
                <a:solidFill>
                  <a:schemeClr val="dk1"/>
                </a:solidFill>
                <a:latin typeface="Times New Roman"/>
                <a:ea typeface="Times New Roman"/>
                <a:cs typeface="Times New Roman"/>
                <a:sym typeface="Times New Roman"/>
              </a:rPr>
              <a:t>omparing</a:t>
            </a:r>
            <a:r>
              <a:rPr lang="en">
                <a:solidFill>
                  <a:schemeClr val="dk1"/>
                </a:solidFill>
                <a:latin typeface="Times New Roman"/>
                <a:ea typeface="Times New Roman"/>
                <a:cs typeface="Times New Roman"/>
                <a:sym typeface="Times New Roman"/>
              </a:rPr>
              <a:t> demand across different household budgets showed us how price sensitivity varies. The curves shows that </a:t>
            </a:r>
            <a:r>
              <a:rPr lang="en">
                <a:solidFill>
                  <a:schemeClr val="dk1"/>
                </a:solidFill>
                <a:latin typeface="Times New Roman"/>
                <a:ea typeface="Times New Roman"/>
                <a:cs typeface="Times New Roman"/>
                <a:sym typeface="Times New Roman"/>
              </a:rPr>
              <a:t>climate</a:t>
            </a:r>
            <a:r>
              <a:rPr lang="en">
                <a:solidFill>
                  <a:schemeClr val="dk1"/>
                </a:solidFill>
                <a:latin typeface="Times New Roman"/>
                <a:ea typeface="Times New Roman"/>
                <a:cs typeface="Times New Roman"/>
                <a:sym typeface="Times New Roman"/>
              </a:rPr>
              <a:t> conditions may affect the overall consumption range of Matoke in Uganda, but the fundamental price-demand relationship maintains a similar structure. The narrower quantity range (or the x-axis) in the 2018-2019 wet year reflects either changes in agricultural production capacity, shifts in consumer preferences, or market size. In 2018-2019, the slope of the lines are also a bit steeper indicating greater consumer sensitivity to Matoke.</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a62993f2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4a62993f2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Engel curves illustrate how households allocate their budget shares to specific goods as their income changes. Matoke consistently maintains the highest expenditure share among all staple foods in both the dry period (2005-2006) and wet period (2018-2019), emphasising its cultural and dietary significance.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During the wet </a:t>
            </a:r>
            <a:r>
              <a:rPr lang="en">
                <a:solidFill>
                  <a:schemeClr val="dk1"/>
                </a:solidFill>
                <a:latin typeface="Times New Roman"/>
                <a:ea typeface="Times New Roman"/>
                <a:cs typeface="Times New Roman"/>
                <a:sym typeface="Times New Roman"/>
              </a:rPr>
              <a:t>period</a:t>
            </a:r>
            <a:r>
              <a:rPr lang="en">
                <a:solidFill>
                  <a:schemeClr val="dk1"/>
                </a:solidFill>
                <a:latin typeface="Times New Roman"/>
                <a:ea typeface="Times New Roman"/>
                <a:cs typeface="Times New Roman"/>
                <a:sym typeface="Times New Roman"/>
              </a:rPr>
              <a:t> (2018-2019), the overall expenditure shares for most foods are lower compared to the dry period, suggesting better agricultural yields or increased food diversity. The negative slopes of all curves indicate these are necessity goods: expenditure share decreases as income rises which is often seen for staple foods.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The rightward shift in budget range (from approximately 11.1-12.5 to 11.3-12.8) suggests income growth over the 13-year span, and can also indicate inflation. Simultaneously, the y-axis scale shows reduced expenditure shares in 2018-2019, potentially indicating increased spending on non-staple foods as households diversify their diets.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Dry cassava appears to function as a "climate-responsive" staple, with households relying on it more heavily during dry periods. The shift from a nearly linear curve to a strongly concave one indicates a fundamental change in cassava's role in the Ugandan diet – indicating a transition from being a regular staple across income levels to functioning primarily as a coping food for lower-income households.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50">
              <a:solidFill>
                <a:srgbClr val="3C4043"/>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a6ed9e1e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4a6ed9e1e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The indirect utility functions map household budget levels (x-axis) to corresponding utility levels (y-axis), which provides us with valuable insights into welfare changes over time in Uganda.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The budget range has increased from approximately 75,000-250,000 (2005-2006) to 75,000-350,000 (2018-2019), also further suggesting economic growth and expanded income possibilities for Ugandan households. The wider utility range in 2018-2019 indicates both deeper potential welfare losses at low incomes and slightly higher potential welfare gains at high incomes.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a:solidFill>
                  <a:schemeClr val="dk1"/>
                </a:solidFill>
                <a:latin typeface="Times New Roman"/>
                <a:ea typeface="Times New Roman"/>
                <a:cs typeface="Times New Roman"/>
                <a:sym typeface="Times New Roman"/>
              </a:rPr>
              <a:t>This analysis aligns with the earlier findings on Engel curves, collectively suggesting that Uganda has experienced economic growth with changing consumption patterns, but potentially with increased vulnerability for lower-income households. </a:t>
            </a: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4a6ed9e1e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4a6ed9e1e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Jing 13-15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5465e7bc0b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5465e7bc0b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Looking at the top 10 most consumed foods in Uganda, the data suggests a gradual diversification of the Ugandan diet over time. The gap between matoke and other foods narrowed somewhat after 2010, and there appears to be more clustering of multiple food types in the middle consumption range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Some of the consumption patterns might correlate with known drought periods (e.g., 2010-2011) and economic changes in Uganda. The recovery and relative stabilization after 2011-12 could reflect improved agricultural conditions or economic growth allowing for more consistent food access.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e13d9a7e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3e13d9a7e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the graph of the Food Prices, it shows the inflation-adjusted prices of key staple foods over time. Most items show a steady upward trend, reflecting both general inflation and periodic supply shocks. Noticeable spikes in certain years—especially around 2010–2011—suggest that climatic factors or market disruptions may have pushed prices higher.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5158d5a3ec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5158d5a3ec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3C4043"/>
                </a:solidFill>
                <a:highlight>
                  <a:srgbClr val="FFFFFF"/>
                </a:highlight>
                <a:latin typeface="Roboto"/>
                <a:ea typeface="Roboto"/>
                <a:cs typeface="Roboto"/>
                <a:sym typeface="Roboto"/>
              </a:rPr>
              <a:t>NOTE MATOKE IS MOST CONSUMED FOOD!!!</a:t>
            </a:r>
            <a:endParaRPr sz="1050">
              <a:solidFill>
                <a:srgbClr val="3C4043"/>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3C4043"/>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400">
                <a:solidFill>
                  <a:schemeClr val="dk1"/>
                </a:solidFill>
                <a:latin typeface="Urbanist SemiBold"/>
                <a:ea typeface="Urbanist SemiBold"/>
                <a:cs typeface="Urbanist SemiBold"/>
                <a:sym typeface="Urbanist SemiBold"/>
              </a:rPr>
              <a:t>Typically increases over time…</a:t>
            </a:r>
            <a:endParaRPr sz="1400">
              <a:solidFill>
                <a:schemeClr val="dk1"/>
              </a:solidFill>
              <a:latin typeface="Urbanist SemiBold"/>
              <a:ea typeface="Urbanist SemiBold"/>
              <a:cs typeface="Urbanist SemiBold"/>
              <a:sym typeface="Urbanist SemiBold"/>
            </a:endParaRPr>
          </a:p>
          <a:p>
            <a:pPr indent="0" lvl="0" marL="0" rtl="0" algn="l">
              <a:spcBef>
                <a:spcPts val="0"/>
              </a:spcBef>
              <a:spcAft>
                <a:spcPts val="0"/>
              </a:spcAft>
              <a:buClr>
                <a:schemeClr val="dk1"/>
              </a:buClr>
              <a:buSzPts val="1100"/>
              <a:buFont typeface="Arial"/>
              <a:buNone/>
            </a:pPr>
            <a:r>
              <a:rPr lang="en" sz="1400">
                <a:solidFill>
                  <a:schemeClr val="dk1"/>
                </a:solidFill>
                <a:latin typeface="Urbanist SemiBold"/>
                <a:ea typeface="Urbanist SemiBold"/>
                <a:cs typeface="Urbanist SemiBold"/>
                <a:sym typeface="Urbanist SemiBold"/>
              </a:rPr>
              <a:t>But:</a:t>
            </a:r>
            <a:endParaRPr sz="1400">
              <a:solidFill>
                <a:schemeClr val="dk1"/>
              </a:solidFill>
              <a:latin typeface="Urbanist SemiBold"/>
              <a:ea typeface="Urbanist SemiBold"/>
              <a:cs typeface="Urbanist SemiBold"/>
              <a:sym typeface="Urbanist SemiBold"/>
            </a:endParaRPr>
          </a:p>
          <a:p>
            <a:pPr indent="-317500" lvl="0" marL="457200" rtl="0" algn="l">
              <a:spcBef>
                <a:spcPts val="0"/>
              </a:spcBef>
              <a:spcAft>
                <a:spcPts val="0"/>
              </a:spcAft>
              <a:buClr>
                <a:schemeClr val="dk1"/>
              </a:buClr>
              <a:buSzPts val="1400"/>
              <a:buFont typeface="Urbanist SemiBold"/>
              <a:buChar char="-"/>
            </a:pPr>
            <a:r>
              <a:rPr lang="en" sz="1400">
                <a:solidFill>
                  <a:schemeClr val="dk1"/>
                </a:solidFill>
                <a:latin typeface="Urbanist SemiBold"/>
                <a:ea typeface="Urbanist SemiBold"/>
                <a:cs typeface="Urbanist SemiBold"/>
                <a:sym typeface="Urbanist SemiBold"/>
              </a:rPr>
              <a:t>Sweet potatoes decrease significantly in 2010-11</a:t>
            </a:r>
            <a:endParaRPr sz="1400">
              <a:solidFill>
                <a:schemeClr val="dk1"/>
              </a:solidFill>
              <a:latin typeface="Urbanist SemiBold"/>
              <a:ea typeface="Urbanist SemiBold"/>
              <a:cs typeface="Urbanist SemiBold"/>
              <a:sym typeface="Urbanist SemiBold"/>
            </a:endParaRPr>
          </a:p>
          <a:p>
            <a:pPr indent="-317500" lvl="0" marL="457200" rtl="0" algn="l">
              <a:spcBef>
                <a:spcPts val="0"/>
              </a:spcBef>
              <a:spcAft>
                <a:spcPts val="0"/>
              </a:spcAft>
              <a:buClr>
                <a:schemeClr val="dk1"/>
              </a:buClr>
              <a:buSzPts val="1400"/>
              <a:buFont typeface="Urbanist SemiBold"/>
              <a:buChar char="-"/>
            </a:pPr>
            <a:r>
              <a:rPr lang="en" sz="1400">
                <a:solidFill>
                  <a:schemeClr val="dk1"/>
                </a:solidFill>
                <a:latin typeface="Urbanist SemiBold"/>
                <a:ea typeface="Urbanist SemiBold"/>
                <a:cs typeface="Urbanist SemiBold"/>
                <a:sym typeface="Urbanist SemiBold"/>
              </a:rPr>
              <a:t>Cassava (fresh) decrease in 2010-11</a:t>
            </a:r>
            <a:endParaRPr sz="1400">
              <a:solidFill>
                <a:schemeClr val="dk1"/>
              </a:solidFill>
              <a:latin typeface="Urbanist SemiBold"/>
              <a:ea typeface="Urbanist SemiBold"/>
              <a:cs typeface="Urbanist SemiBold"/>
              <a:sym typeface="Urbanist SemiBold"/>
            </a:endParaRPr>
          </a:p>
          <a:p>
            <a:pPr indent="0" lvl="0" marL="0" rtl="0" algn="l">
              <a:spcBef>
                <a:spcPts val="0"/>
              </a:spcBef>
              <a:spcAft>
                <a:spcPts val="0"/>
              </a:spcAft>
              <a:buNone/>
            </a:pPr>
            <a:r>
              <a:rPr lang="en" sz="1050">
                <a:solidFill>
                  <a:srgbClr val="3C4043"/>
                </a:solidFill>
                <a:highlight>
                  <a:srgbClr val="FFFFFF"/>
                </a:highlight>
                <a:latin typeface="Roboto"/>
                <a:ea typeface="Roboto"/>
                <a:cs typeface="Roboto"/>
                <a:sym typeface="Roboto"/>
              </a:rPr>
              <a:t>Then,  We observe a general increase in spending on all staples, indicative of growing demand and possibly rising prices.Such as </a:t>
            </a:r>
            <a:r>
              <a:rPr lang="en" sz="1050">
                <a:solidFill>
                  <a:srgbClr val="3C4043"/>
                </a:solidFill>
                <a:highlight>
                  <a:schemeClr val="lt1"/>
                </a:highlight>
                <a:latin typeface="Roboto"/>
                <a:ea typeface="Roboto"/>
                <a:cs typeface="Roboto"/>
                <a:sym typeface="Roboto"/>
              </a:rPr>
              <a:t>MATOKE IS MOST CONSUMED FOOD. </a:t>
            </a:r>
            <a:r>
              <a:rPr lang="en" sz="1050">
                <a:solidFill>
                  <a:srgbClr val="3C4043"/>
                </a:solidFill>
                <a:highlight>
                  <a:srgbClr val="FFFFFF"/>
                </a:highlight>
                <a:latin typeface="Roboto"/>
                <a:ea typeface="Roboto"/>
                <a:cs typeface="Roboto"/>
                <a:sym typeface="Roboto"/>
              </a:rPr>
              <a:t> However, certain items, such as sweet potatoes or fresh cassava, exhibit dips during specific periods—most notably around 2010–2011—which may reflect shifts in consumer preferences, supply constraints, or economic pressures.</a:t>
            </a: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4a6ed9e1e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4a6ed9e1e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Urbanist SemiBold"/>
                <a:ea typeface="Urbanist SemiBold"/>
                <a:cs typeface="Urbanist SemiBold"/>
                <a:sym typeface="Urbanist SemiBold"/>
              </a:rPr>
              <a:t>Decrease (generally) 2005-6 to 2011-12</a:t>
            </a:r>
            <a:endParaRPr sz="1400">
              <a:latin typeface="Urbanist SemiBold"/>
              <a:ea typeface="Urbanist SemiBold"/>
              <a:cs typeface="Urbanist SemiBold"/>
              <a:sym typeface="Urbanist SemiBold"/>
            </a:endParaRPr>
          </a:p>
          <a:p>
            <a:pPr indent="0" lvl="0" marL="0" rtl="0" algn="l">
              <a:spcBef>
                <a:spcPts val="0"/>
              </a:spcBef>
              <a:spcAft>
                <a:spcPts val="0"/>
              </a:spcAft>
              <a:buNone/>
            </a:pPr>
            <a:r>
              <a:t/>
            </a:r>
            <a:endParaRPr sz="1400">
              <a:latin typeface="Urbanist SemiBold"/>
              <a:ea typeface="Urbanist SemiBold"/>
              <a:cs typeface="Urbanist SemiBold"/>
              <a:sym typeface="Urbanist SemiBold"/>
            </a:endParaRPr>
          </a:p>
          <a:p>
            <a:pPr indent="0" lvl="0" marL="0" rtl="0" algn="l">
              <a:spcBef>
                <a:spcPts val="0"/>
              </a:spcBef>
              <a:spcAft>
                <a:spcPts val="0"/>
              </a:spcAft>
              <a:buNone/>
            </a:pPr>
            <a:r>
              <a:rPr lang="en" sz="1400">
                <a:latin typeface="Urbanist SemiBold"/>
                <a:ea typeface="Urbanist SemiBold"/>
                <a:cs typeface="Urbanist SemiBold"/>
                <a:sym typeface="Urbanist SemiBold"/>
              </a:rPr>
              <a:t>After that, increases</a:t>
            </a:r>
            <a:endParaRPr sz="1400">
              <a:latin typeface="Urbanist SemiBold"/>
              <a:ea typeface="Urbanist SemiBold"/>
              <a:cs typeface="Urbanist SemiBold"/>
              <a:sym typeface="Urbanist SemiBold"/>
            </a:endParaRPr>
          </a:p>
          <a:p>
            <a:pPr indent="0" lvl="0" marL="0" rtl="0" algn="l">
              <a:spcBef>
                <a:spcPts val="0"/>
              </a:spcBef>
              <a:spcAft>
                <a:spcPts val="0"/>
              </a:spcAft>
              <a:buNone/>
            </a:pPr>
            <a:r>
              <a:t/>
            </a:r>
            <a:endParaRPr sz="1400">
              <a:latin typeface="Urbanist SemiBold"/>
              <a:ea typeface="Urbanist SemiBold"/>
              <a:cs typeface="Urbanist SemiBold"/>
              <a:sym typeface="Urbanist SemiBold"/>
            </a:endParaRPr>
          </a:p>
          <a:p>
            <a:pPr indent="0" lvl="0" marL="0" rtl="0" algn="l">
              <a:spcBef>
                <a:spcPts val="0"/>
              </a:spcBef>
              <a:spcAft>
                <a:spcPts val="0"/>
              </a:spcAft>
              <a:buNone/>
            </a:pPr>
            <a:r>
              <a:rPr lang="en" sz="1400">
                <a:latin typeface="Urbanist SemiBold"/>
                <a:ea typeface="Urbanist SemiBold"/>
                <a:cs typeface="Urbanist SemiBold"/>
                <a:sym typeface="Urbanist SemiBold"/>
              </a:rPr>
              <a:t>Protein kinda crazy lol</a:t>
            </a:r>
            <a:endParaRPr sz="1400">
              <a:latin typeface="Urbanist SemiBold"/>
              <a:ea typeface="Urbanist SemiBold"/>
              <a:cs typeface="Urbanist SemiBold"/>
              <a:sym typeface="Urbanist SemiBold"/>
            </a:endParaRPr>
          </a:p>
          <a:p>
            <a:pPr indent="0" lvl="0" marL="0" rtl="0" algn="l">
              <a:spcBef>
                <a:spcPts val="0"/>
              </a:spcBef>
              <a:spcAft>
                <a:spcPts val="0"/>
              </a:spcAft>
              <a:buNone/>
            </a:pPr>
            <a:r>
              <a:t/>
            </a:r>
            <a:endParaRPr sz="1050">
              <a:solidFill>
                <a:srgbClr val="3C4043"/>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400">
                <a:solidFill>
                  <a:schemeClr val="dk1"/>
                </a:solidFill>
                <a:latin typeface="Urbanist SemiBold"/>
                <a:ea typeface="Urbanist SemiBold"/>
                <a:cs typeface="Urbanist SemiBold"/>
                <a:sym typeface="Urbanist SemiBold"/>
              </a:rPr>
              <a:t>Here, we compare the purchase-to-requirement ratios for various nutrients—such as energy, protein, and micronutrients—over several years. From around 2005–2006 to 2011–2012, there’s a noticeable decline in most nutrients, suggesting that households faced greater challenges in meeting recommended dietary needs.</a:t>
            </a: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4a6ed9e1e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4a6ed9e1e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Carmen 17-19</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rgbClr val="3C4043"/>
                </a:solidFill>
                <a:latin typeface="Roboto"/>
                <a:ea typeface="Roboto"/>
                <a:cs typeface="Roboto"/>
                <a:sym typeface="Roboto"/>
              </a:rPr>
              <a:t>Our group was particularly interested in analyzing the effect of rainfall shocks on expenditure and consumption patterns.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3e13d9a7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3e13d9a7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C4043"/>
                </a:solidFill>
                <a:latin typeface="Roboto"/>
                <a:ea typeface="Roboto"/>
                <a:cs typeface="Roboto"/>
                <a:sym typeface="Roboto"/>
              </a:rPr>
              <a:t>To begin this analysis, we first visualized how the average expenditure varied in comparison to the variance in average rainfall over time. This graph suggested that perhaps there is some correlation between the two variables, with several increases in rainfall aligning with an increase in average expenditure on goods. However, this pattern doesn’t exactly hold for years with a small change in average precipitation. From this graph, an exact conclusion isn’t clear, as so we did further analysis into specific parameters.</a:t>
            </a:r>
            <a:endParaRPr b="1" sz="1200">
              <a:solidFill>
                <a:srgbClr val="434343"/>
              </a:solidFill>
              <a:latin typeface="Livvic"/>
              <a:ea typeface="Livvic"/>
              <a:cs typeface="Livvic"/>
              <a:sym typeface="Livvic"/>
            </a:endParaRPr>
          </a:p>
          <a:p>
            <a:pPr indent="0" lvl="0" marL="0" rtl="0" algn="l">
              <a:spcBef>
                <a:spcPts val="0"/>
              </a:spcBef>
              <a:spcAft>
                <a:spcPts val="0"/>
              </a:spcAft>
              <a:buNone/>
            </a:pPr>
            <a:r>
              <a:t/>
            </a:r>
            <a:endParaRPr>
              <a:solidFill>
                <a:srgbClr val="3C4043"/>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bedecf59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4bedecf59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analyzed our welfare parameter, which serves as a measure of the health and happiness of a household. This was the only parameter we estimated that’s data suggested a correlation to average </a:t>
            </a:r>
            <a:r>
              <a:rPr lang="en"/>
              <a:t>precipitation</a:t>
            </a:r>
            <a:r>
              <a:rPr lang="en"/>
              <a:t> when analyzing across all years. In the top graph, we see that when dividing our welfare data amongst the regions (aka markets) of Uganda, there doesn’t seem to be a correlation for all regions. However, if we single out our data from the Western region of Uganda, as shown on the lower graph, we can see that indication of a correlation between precipitation and welfare.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4a6ed9e1e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4a6ed9e1e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further understand differences in welfare in comparison to rainfall data, we looked at the two periods with the least and most annual precipitation: being 2005-06 and 2018-19 respectively. Again, we focused on any significance pertaining to the Western region. When comparing kernel density estimates of welfare distributions for Western Uganda (on the left) vs Eastern Uganda (on the right), we can see that indeed Western Uganda shows a difference between the wet and dry years, whereas Eastern Uganda does not. From this, we can infer that the welfare of the Western region of Uganda is </a:t>
            </a:r>
            <a:r>
              <a:rPr lang="en"/>
              <a:t>disproportionately</a:t>
            </a:r>
            <a:r>
              <a:rPr lang="en"/>
              <a:t> affected by the amount of rainfall in a given year.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bedecf59a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4bedecf59a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did research to try and understand why Western Ugandan welfare was so </a:t>
            </a:r>
            <a:r>
              <a:rPr lang="en"/>
              <a:t>susceptible</a:t>
            </a:r>
            <a:r>
              <a:rPr lang="en"/>
              <a:t> to rainfall, we found a significant characterization of the region. The West can be </a:t>
            </a:r>
            <a:r>
              <a:rPr lang="en"/>
              <a:t>distinguished</a:t>
            </a:r>
            <a:r>
              <a:rPr lang="en"/>
              <a:t> from other regions on the basis of its economic dependence on rain-fed agriculture. Most significantly, the west produced over double the amount of bananas as any other region, according to data from the Global Yield Gap Atlas. As we saw in our analysis of consumption and expenditure in Uganda, matoke, which is another name for bananas, was by far the most consumed and purchased food. Being such a significant food, and having a significant production within the Western region, it makes sense for the welfare of households in the West to be impacted by rainfall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https://www.yieldgap.org/uganda</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a6ed9e1e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a6ed9e1e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Mario 20-21</a:t>
            </a:r>
            <a:endParaRPr>
              <a:solidFill>
                <a:schemeClr val="dk1"/>
              </a:solidFill>
            </a:endParaRPr>
          </a:p>
          <a:p>
            <a:pPr indent="0" lvl="0" marL="0" rtl="0" algn="l">
              <a:spcBef>
                <a:spcPts val="0"/>
              </a:spcBef>
              <a:spcAft>
                <a:spcPts val="0"/>
              </a:spcAft>
              <a:buNone/>
            </a:pPr>
            <a:r>
              <a:rPr lang="en">
                <a:solidFill>
                  <a:schemeClr val="dk1"/>
                </a:solidFill>
              </a:rPr>
              <a:t>For our consumption and precipitation slide we highlights how food consumption was affected during Uganda’s 2010–11 drought. On average, household food expenditure during the drought year dropped by more than 25% compared to the wet year of 2015–16. This decline wasn’t just about household choices — it reflects a real supply shock caused by rainfall failure. When crops fail, markets tighten, and food becomes more expensive. In response, families spent less, not necessarily by choice, but because they were forced to shift toward cheaper, lower-quality foods. So while consumption may look stable on the surface, this drop in expenditure shows how climate stress directly impacted what people could actually afford to eat.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4a6ed9e1e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4a6ed9e1e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compares household food consumption across two key periods in Uganda: the </a:t>
            </a:r>
            <a:r>
              <a:rPr b="1" lang="en">
                <a:solidFill>
                  <a:schemeClr val="dk1"/>
                </a:solidFill>
              </a:rPr>
              <a:t>2010–11 drought year</a:t>
            </a:r>
            <a:r>
              <a:rPr lang="en">
                <a:solidFill>
                  <a:schemeClr val="dk1"/>
                </a:solidFill>
              </a:rPr>
              <a:t> and the </a:t>
            </a:r>
            <a:r>
              <a:rPr b="1" lang="en">
                <a:solidFill>
                  <a:schemeClr val="dk1"/>
                </a:solidFill>
              </a:rPr>
              <a:t>2015–16 wet year</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create this, we used food expenditure data from the </a:t>
            </a:r>
            <a:r>
              <a:rPr b="1" lang="en">
                <a:solidFill>
                  <a:schemeClr val="dk1"/>
                </a:solidFill>
              </a:rPr>
              <a:t>Uganda LSMS</a:t>
            </a:r>
            <a:r>
              <a:rPr lang="en">
                <a:solidFill>
                  <a:schemeClr val="dk1"/>
                </a:solidFill>
              </a:rPr>
              <a:t>, specifically the </a:t>
            </a:r>
            <a:r>
              <a:rPr lang="en">
                <a:solidFill>
                  <a:srgbClr val="188038"/>
                </a:solidFill>
                <a:latin typeface="Roboto Mono"/>
                <a:ea typeface="Roboto Mono"/>
                <a:cs typeface="Roboto Mono"/>
                <a:sym typeface="Roboto Mono"/>
              </a:rPr>
              <a:t>Food Expenditures</a:t>
            </a:r>
            <a:r>
              <a:rPr lang="en">
                <a:solidFill>
                  <a:schemeClr val="dk1"/>
                </a:solidFill>
              </a:rPr>
              <a:t> sheets for both years. We grouped the data by household and calculated total food spending for each household over the survey period.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we computed the average food expenditure per household.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we found is that during the drought year of 2010–11, the average household spent about </a:t>
            </a:r>
            <a:r>
              <a:rPr b="1" lang="en">
                <a:solidFill>
                  <a:schemeClr val="dk1"/>
                </a:solidFill>
              </a:rPr>
              <a:t>UGX 42,500</a:t>
            </a:r>
            <a:r>
              <a:rPr lang="en">
                <a:solidFill>
                  <a:schemeClr val="dk1"/>
                </a:solidFill>
              </a:rPr>
              <a:t> on food. In contrast, during the wet year of 2015–16, average food spending rose to nearly </a:t>
            </a:r>
            <a:r>
              <a:rPr b="1" lang="en">
                <a:solidFill>
                  <a:schemeClr val="dk1"/>
                </a:solidFill>
              </a:rPr>
              <a:t>UGX 56,800</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a </a:t>
            </a:r>
            <a:r>
              <a:rPr b="1" lang="en">
                <a:solidFill>
                  <a:schemeClr val="dk1"/>
                </a:solidFill>
              </a:rPr>
              <a:t>33% increase</a:t>
            </a:r>
            <a:r>
              <a:rPr lang="en">
                <a:solidFill>
                  <a:schemeClr val="dk1"/>
                </a:solidFill>
              </a:rPr>
              <a:t>, and it shows how rainfall patterns directly affect not just supply — but actual household consumption.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difference suggests that in dry years, households may either cut back on food, switch to cheaper options, or simply be priced out of more nutritious choices.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It’s not just about what’s available in the market — it’s about what people can afford to put on their 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bedecf5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4bedecf5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Emily 22-23</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4a6ed9e1e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4a6ed9e1e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spTree>
      <p:nvGrpSpPr>
        <p:cNvPr id="8" name="Shape 8"/>
        <p:cNvGrpSpPr/>
        <p:nvPr/>
      </p:nvGrpSpPr>
      <p:grpSpPr>
        <a:xfrm>
          <a:off x="0" y="0"/>
          <a:ext cx="0" cy="0"/>
          <a:chOff x="0" y="0"/>
          <a:chExt cx="0" cy="0"/>
        </a:xfrm>
      </p:grpSpPr>
      <p:sp>
        <p:nvSpPr>
          <p:cNvPr id="9" name="Google Shape;9;p2"/>
          <p:cNvSpPr txBox="1"/>
          <p:nvPr>
            <p:ph type="ctrTitle"/>
          </p:nvPr>
        </p:nvSpPr>
        <p:spPr>
          <a:xfrm>
            <a:off x="1039575" y="1701225"/>
            <a:ext cx="4592400" cy="17823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 name="Google Shape;10;p2"/>
          <p:cNvSpPr txBox="1"/>
          <p:nvPr>
            <p:ph idx="1" type="subTitle"/>
          </p:nvPr>
        </p:nvSpPr>
        <p:spPr>
          <a:xfrm>
            <a:off x="1039575" y="3206400"/>
            <a:ext cx="2402100" cy="717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11" name="Shape 11"/>
        <p:cNvGrpSpPr/>
        <p:nvPr/>
      </p:nvGrpSpPr>
      <p:grpSpPr>
        <a:xfrm>
          <a:off x="0" y="0"/>
          <a:ext cx="0" cy="0"/>
          <a:chOff x="0" y="0"/>
          <a:chExt cx="0" cy="0"/>
        </a:xfrm>
      </p:grpSpPr>
      <p:sp>
        <p:nvSpPr>
          <p:cNvPr id="12" name="Google Shape;12;p3"/>
          <p:cNvSpPr txBox="1"/>
          <p:nvPr>
            <p:ph type="ctrTitle"/>
          </p:nvPr>
        </p:nvSpPr>
        <p:spPr>
          <a:xfrm>
            <a:off x="3423902" y="387473"/>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13" name="Google Shape;13;p3"/>
          <p:cNvSpPr txBox="1"/>
          <p:nvPr>
            <p:ph idx="1" type="subTitle"/>
          </p:nvPr>
        </p:nvSpPr>
        <p:spPr>
          <a:xfrm>
            <a:off x="3423900" y="802521"/>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14" name="Google Shape;14;p3"/>
          <p:cNvSpPr txBox="1"/>
          <p:nvPr>
            <p:ph hasCustomPrompt="1" idx="2" type="title"/>
          </p:nvPr>
        </p:nvSpPr>
        <p:spPr>
          <a:xfrm>
            <a:off x="2023007" y="654113"/>
            <a:ext cx="17391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 name="Google Shape;15;p3"/>
          <p:cNvSpPr txBox="1"/>
          <p:nvPr>
            <p:ph idx="3" type="ctrTitle"/>
          </p:nvPr>
        </p:nvSpPr>
        <p:spPr>
          <a:xfrm>
            <a:off x="3425264" y="1224286"/>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16" name="Google Shape;16;p3"/>
          <p:cNvSpPr txBox="1"/>
          <p:nvPr>
            <p:ph idx="4" type="subTitle"/>
          </p:nvPr>
        </p:nvSpPr>
        <p:spPr>
          <a:xfrm>
            <a:off x="3425259" y="1638859"/>
            <a:ext cx="19767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17" name="Google Shape;17;p3"/>
          <p:cNvSpPr txBox="1"/>
          <p:nvPr>
            <p:ph hasCustomPrompt="1" idx="5" type="title"/>
          </p:nvPr>
        </p:nvSpPr>
        <p:spPr>
          <a:xfrm>
            <a:off x="2023007" y="1488788"/>
            <a:ext cx="16152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p:nvPr>
            <p:ph idx="6" type="ctrTitle"/>
          </p:nvPr>
        </p:nvSpPr>
        <p:spPr>
          <a:xfrm>
            <a:off x="3427999" y="2061098"/>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19" name="Google Shape;19;p3"/>
          <p:cNvSpPr txBox="1"/>
          <p:nvPr>
            <p:ph idx="7" type="subTitle"/>
          </p:nvPr>
        </p:nvSpPr>
        <p:spPr>
          <a:xfrm>
            <a:off x="3427997" y="2475197"/>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0" name="Google Shape;20;p3"/>
          <p:cNvSpPr txBox="1"/>
          <p:nvPr>
            <p:ph hasCustomPrompt="1" idx="8" type="title"/>
          </p:nvPr>
        </p:nvSpPr>
        <p:spPr>
          <a:xfrm>
            <a:off x="2023007" y="2323463"/>
            <a:ext cx="15735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p:nvPr>
            <p:ph idx="9" type="ctrTitle"/>
          </p:nvPr>
        </p:nvSpPr>
        <p:spPr>
          <a:xfrm rot="5400000">
            <a:off x="6601629" y="1646270"/>
            <a:ext cx="29133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22" name="Google Shape;22;p3"/>
          <p:cNvSpPr txBox="1"/>
          <p:nvPr>
            <p:ph idx="13" type="ctrTitle"/>
          </p:nvPr>
        </p:nvSpPr>
        <p:spPr>
          <a:xfrm>
            <a:off x="3427999" y="2897911"/>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3" name="Google Shape;23;p3"/>
          <p:cNvSpPr txBox="1"/>
          <p:nvPr>
            <p:ph idx="14" type="subTitle"/>
          </p:nvPr>
        </p:nvSpPr>
        <p:spPr>
          <a:xfrm>
            <a:off x="3427997" y="3311534"/>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4" name="Google Shape;24;p3"/>
          <p:cNvSpPr txBox="1"/>
          <p:nvPr>
            <p:ph hasCustomPrompt="1" idx="15" type="title"/>
          </p:nvPr>
        </p:nvSpPr>
        <p:spPr>
          <a:xfrm>
            <a:off x="2023007" y="3158138"/>
            <a:ext cx="15735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p:nvPr>
            <p:ph idx="16" type="ctrTitle"/>
          </p:nvPr>
        </p:nvSpPr>
        <p:spPr>
          <a:xfrm>
            <a:off x="3427999" y="3734723"/>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6" name="Google Shape;26;p3"/>
          <p:cNvSpPr txBox="1"/>
          <p:nvPr>
            <p:ph idx="17" type="subTitle"/>
          </p:nvPr>
        </p:nvSpPr>
        <p:spPr>
          <a:xfrm>
            <a:off x="3427997" y="4147872"/>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7" name="Google Shape;27;p3"/>
          <p:cNvSpPr txBox="1"/>
          <p:nvPr>
            <p:ph hasCustomPrompt="1" idx="18" type="title"/>
          </p:nvPr>
        </p:nvSpPr>
        <p:spPr>
          <a:xfrm>
            <a:off x="2023007" y="3992813"/>
            <a:ext cx="15735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3">
    <p:spTree>
      <p:nvGrpSpPr>
        <p:cNvPr id="28" name="Shape 28"/>
        <p:cNvGrpSpPr/>
        <p:nvPr/>
      </p:nvGrpSpPr>
      <p:grpSpPr>
        <a:xfrm>
          <a:off x="0" y="0"/>
          <a:ext cx="0" cy="0"/>
          <a:chOff x="0" y="0"/>
          <a:chExt cx="0" cy="0"/>
        </a:xfrm>
      </p:grpSpPr>
      <p:sp>
        <p:nvSpPr>
          <p:cNvPr id="29" name="Google Shape;29;p4"/>
          <p:cNvSpPr txBox="1"/>
          <p:nvPr>
            <p:ph type="title"/>
          </p:nvPr>
        </p:nvSpPr>
        <p:spPr>
          <a:xfrm>
            <a:off x="672375" y="1432475"/>
            <a:ext cx="3498000" cy="8967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000000"/>
              </a:buClr>
              <a:buSzPts val="2800"/>
              <a:buNone/>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30" name="Google Shape;30;p4"/>
          <p:cNvSpPr txBox="1"/>
          <p:nvPr>
            <p:ph idx="1" type="subTitle"/>
          </p:nvPr>
        </p:nvSpPr>
        <p:spPr>
          <a:xfrm flipH="1">
            <a:off x="1667175" y="2154225"/>
            <a:ext cx="2503200" cy="1170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nSpc>
                <a:spcPct val="100000"/>
              </a:lnSpc>
              <a:spcBef>
                <a:spcPts val="0"/>
              </a:spcBef>
              <a:spcAft>
                <a:spcPts val="0"/>
              </a:spcAft>
              <a:buClr>
                <a:srgbClr val="000000"/>
              </a:buClr>
              <a:buSzPts val="2800"/>
              <a:buNone/>
              <a:defRPr sz="2800">
                <a:solidFill>
                  <a:srgbClr val="000000"/>
                </a:solidFill>
              </a:defRPr>
            </a:lvl2pPr>
            <a:lvl3pPr lvl="2" rtl="0">
              <a:lnSpc>
                <a:spcPct val="100000"/>
              </a:lnSpc>
              <a:spcBef>
                <a:spcPts val="0"/>
              </a:spcBef>
              <a:spcAft>
                <a:spcPts val="0"/>
              </a:spcAft>
              <a:buClr>
                <a:srgbClr val="000000"/>
              </a:buClr>
              <a:buSzPts val="2800"/>
              <a:buNone/>
              <a:defRPr sz="2800">
                <a:solidFill>
                  <a:srgbClr val="000000"/>
                </a:solidFill>
              </a:defRPr>
            </a:lvl3pPr>
            <a:lvl4pPr lvl="3" rtl="0">
              <a:lnSpc>
                <a:spcPct val="100000"/>
              </a:lnSpc>
              <a:spcBef>
                <a:spcPts val="0"/>
              </a:spcBef>
              <a:spcAft>
                <a:spcPts val="0"/>
              </a:spcAft>
              <a:buClr>
                <a:srgbClr val="000000"/>
              </a:buClr>
              <a:buSzPts val="2800"/>
              <a:buNone/>
              <a:defRPr sz="2800">
                <a:solidFill>
                  <a:srgbClr val="000000"/>
                </a:solidFill>
              </a:defRPr>
            </a:lvl4pPr>
            <a:lvl5pPr lvl="4" rtl="0">
              <a:lnSpc>
                <a:spcPct val="100000"/>
              </a:lnSpc>
              <a:spcBef>
                <a:spcPts val="0"/>
              </a:spcBef>
              <a:spcAft>
                <a:spcPts val="0"/>
              </a:spcAft>
              <a:buClr>
                <a:srgbClr val="000000"/>
              </a:buClr>
              <a:buSzPts val="2800"/>
              <a:buNone/>
              <a:defRPr sz="2800">
                <a:solidFill>
                  <a:srgbClr val="000000"/>
                </a:solidFill>
              </a:defRPr>
            </a:lvl5pPr>
            <a:lvl6pPr lvl="5" rtl="0">
              <a:lnSpc>
                <a:spcPct val="100000"/>
              </a:lnSpc>
              <a:spcBef>
                <a:spcPts val="0"/>
              </a:spcBef>
              <a:spcAft>
                <a:spcPts val="0"/>
              </a:spcAft>
              <a:buClr>
                <a:srgbClr val="000000"/>
              </a:buClr>
              <a:buSzPts val="2800"/>
              <a:buNone/>
              <a:defRPr sz="2800">
                <a:solidFill>
                  <a:srgbClr val="000000"/>
                </a:solidFill>
              </a:defRPr>
            </a:lvl6pPr>
            <a:lvl7pPr lvl="6" rtl="0">
              <a:lnSpc>
                <a:spcPct val="100000"/>
              </a:lnSpc>
              <a:spcBef>
                <a:spcPts val="0"/>
              </a:spcBef>
              <a:spcAft>
                <a:spcPts val="0"/>
              </a:spcAft>
              <a:buClr>
                <a:srgbClr val="000000"/>
              </a:buClr>
              <a:buSzPts val="2800"/>
              <a:buNone/>
              <a:defRPr sz="2800">
                <a:solidFill>
                  <a:srgbClr val="000000"/>
                </a:solidFill>
              </a:defRPr>
            </a:lvl7pPr>
            <a:lvl8pPr lvl="7" rtl="0">
              <a:lnSpc>
                <a:spcPct val="100000"/>
              </a:lnSpc>
              <a:spcBef>
                <a:spcPts val="0"/>
              </a:spcBef>
              <a:spcAft>
                <a:spcPts val="0"/>
              </a:spcAft>
              <a:buClr>
                <a:srgbClr val="000000"/>
              </a:buClr>
              <a:buSzPts val="2800"/>
              <a:buNone/>
              <a:defRPr sz="2800">
                <a:solidFill>
                  <a:srgbClr val="000000"/>
                </a:solidFill>
              </a:defRPr>
            </a:lvl8pPr>
            <a:lvl9pPr lvl="8" rtl="0">
              <a:lnSpc>
                <a:spcPct val="100000"/>
              </a:lnSpc>
              <a:spcBef>
                <a:spcPts val="0"/>
              </a:spcBef>
              <a:spcAft>
                <a:spcPts val="0"/>
              </a:spcAft>
              <a:buClr>
                <a:srgbClr val="000000"/>
              </a:buClr>
              <a:buSzPts val="2800"/>
              <a:buNone/>
              <a:defRPr sz="2800">
                <a:solidFill>
                  <a:srgbClr val="000000"/>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1">
  <p:cSld name="CUSTOM_27_1_1">
    <p:spTree>
      <p:nvGrpSpPr>
        <p:cNvPr id="31" name="Shape 31"/>
        <p:cNvGrpSpPr/>
        <p:nvPr/>
      </p:nvGrpSpPr>
      <p:grpSpPr>
        <a:xfrm>
          <a:off x="0" y="0"/>
          <a:ext cx="0" cy="0"/>
          <a:chOff x="0" y="0"/>
          <a:chExt cx="0" cy="0"/>
        </a:xfrm>
      </p:grpSpPr>
      <p:sp>
        <p:nvSpPr>
          <p:cNvPr id="32" name="Google Shape;32;p5"/>
          <p:cNvSpPr txBox="1"/>
          <p:nvPr>
            <p:ph type="ctrTitle"/>
          </p:nvPr>
        </p:nvSpPr>
        <p:spPr>
          <a:xfrm>
            <a:off x="631875" y="842025"/>
            <a:ext cx="287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 name="Google Shape;33;p5"/>
          <p:cNvSpPr txBox="1"/>
          <p:nvPr>
            <p:ph idx="1" type="subTitle"/>
          </p:nvPr>
        </p:nvSpPr>
        <p:spPr>
          <a:xfrm>
            <a:off x="631884" y="1410841"/>
            <a:ext cx="2480700" cy="53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34" name="Google Shape;34;p5"/>
          <p:cNvSpPr txBox="1"/>
          <p:nvPr>
            <p:ph idx="2" type="ctrTitle"/>
          </p:nvPr>
        </p:nvSpPr>
        <p:spPr>
          <a:xfrm>
            <a:off x="4213664" y="842025"/>
            <a:ext cx="26979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 name="Google Shape;35;p5"/>
          <p:cNvSpPr txBox="1"/>
          <p:nvPr>
            <p:ph idx="3" type="subTitle"/>
          </p:nvPr>
        </p:nvSpPr>
        <p:spPr>
          <a:xfrm>
            <a:off x="4213664" y="1410841"/>
            <a:ext cx="2586000" cy="74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36" name="Google Shape;36;p5"/>
          <p:cNvSpPr txBox="1"/>
          <p:nvPr>
            <p:ph idx="4" type="ctrTitle"/>
          </p:nvPr>
        </p:nvSpPr>
        <p:spPr>
          <a:xfrm>
            <a:off x="631883" y="3331927"/>
            <a:ext cx="287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7" name="Google Shape;37;p5"/>
          <p:cNvSpPr txBox="1"/>
          <p:nvPr>
            <p:ph idx="5" type="subTitle"/>
          </p:nvPr>
        </p:nvSpPr>
        <p:spPr>
          <a:xfrm>
            <a:off x="631884" y="3914208"/>
            <a:ext cx="2480700" cy="94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38" name="Google Shape;38;p5"/>
          <p:cNvSpPr txBox="1"/>
          <p:nvPr>
            <p:ph idx="6" type="ctrTitle"/>
          </p:nvPr>
        </p:nvSpPr>
        <p:spPr>
          <a:xfrm rot="5400000">
            <a:off x="6685437" y="1646270"/>
            <a:ext cx="29133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39" name="Google Shape;39;p5"/>
          <p:cNvSpPr txBox="1"/>
          <p:nvPr>
            <p:ph idx="7" type="ctrTitle"/>
          </p:nvPr>
        </p:nvSpPr>
        <p:spPr>
          <a:xfrm>
            <a:off x="4213664" y="3331934"/>
            <a:ext cx="25860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40" name="Google Shape;40;p5"/>
          <p:cNvSpPr txBox="1"/>
          <p:nvPr>
            <p:ph idx="8" type="subTitle"/>
          </p:nvPr>
        </p:nvSpPr>
        <p:spPr>
          <a:xfrm>
            <a:off x="4213664" y="3914208"/>
            <a:ext cx="2586000" cy="74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1">
  <p:cSld name="CUSTOM_27">
    <p:spTree>
      <p:nvGrpSpPr>
        <p:cNvPr id="41" name="Shape 41"/>
        <p:cNvGrpSpPr/>
        <p:nvPr/>
      </p:nvGrpSpPr>
      <p:grpSpPr>
        <a:xfrm>
          <a:off x="0" y="0"/>
          <a:ext cx="0" cy="0"/>
          <a:chOff x="0" y="0"/>
          <a:chExt cx="0" cy="0"/>
        </a:xfrm>
      </p:grpSpPr>
      <p:sp>
        <p:nvSpPr>
          <p:cNvPr id="42" name="Google Shape;42;p6"/>
          <p:cNvSpPr txBox="1"/>
          <p:nvPr>
            <p:ph type="ctrTitle"/>
          </p:nvPr>
        </p:nvSpPr>
        <p:spPr>
          <a:xfrm>
            <a:off x="4921575" y="2993035"/>
            <a:ext cx="18282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43" name="Google Shape;43;p6"/>
          <p:cNvSpPr txBox="1"/>
          <p:nvPr>
            <p:ph idx="1" type="subTitle"/>
          </p:nvPr>
        </p:nvSpPr>
        <p:spPr>
          <a:xfrm>
            <a:off x="4921575" y="3553810"/>
            <a:ext cx="1522200" cy="94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solidFill>
                  <a:srgbClr val="000000"/>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44" name="Google Shape;44;p6"/>
          <p:cNvSpPr txBox="1"/>
          <p:nvPr>
            <p:ph idx="2" type="ctrTitle"/>
          </p:nvPr>
        </p:nvSpPr>
        <p:spPr>
          <a:xfrm>
            <a:off x="906139" y="2993035"/>
            <a:ext cx="18282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45" name="Google Shape;45;p6"/>
          <p:cNvSpPr txBox="1"/>
          <p:nvPr>
            <p:ph idx="3" type="subTitle"/>
          </p:nvPr>
        </p:nvSpPr>
        <p:spPr>
          <a:xfrm>
            <a:off x="906139" y="3553810"/>
            <a:ext cx="1522200" cy="94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solidFill>
                  <a:srgbClr val="000000"/>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46" name="Google Shape;46;p6"/>
          <p:cNvSpPr txBox="1"/>
          <p:nvPr>
            <p:ph idx="4" type="ctrTitle"/>
          </p:nvPr>
        </p:nvSpPr>
        <p:spPr>
          <a:xfrm rot="5400000">
            <a:off x="6685437" y="1646270"/>
            <a:ext cx="29133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47" name="Google Shape;47;p6"/>
          <p:cNvSpPr txBox="1"/>
          <p:nvPr>
            <p:ph idx="5" type="ctrTitle"/>
          </p:nvPr>
        </p:nvSpPr>
        <p:spPr>
          <a:xfrm>
            <a:off x="2928557" y="2993035"/>
            <a:ext cx="17988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48" name="Google Shape;48;p6"/>
          <p:cNvSpPr txBox="1"/>
          <p:nvPr>
            <p:ph idx="6" type="subTitle"/>
          </p:nvPr>
        </p:nvSpPr>
        <p:spPr>
          <a:xfrm>
            <a:off x="2928550" y="3553810"/>
            <a:ext cx="1476300" cy="94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solidFill>
                  <a:srgbClr val="000000"/>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14">
    <p:spTree>
      <p:nvGrpSpPr>
        <p:cNvPr id="49" name="Shape 49"/>
        <p:cNvGrpSpPr/>
        <p:nvPr/>
      </p:nvGrpSpPr>
      <p:grpSpPr>
        <a:xfrm>
          <a:off x="0" y="0"/>
          <a:ext cx="0" cy="0"/>
          <a:chOff x="0" y="0"/>
          <a:chExt cx="0" cy="0"/>
        </a:xfrm>
      </p:grpSpPr>
      <p:sp>
        <p:nvSpPr>
          <p:cNvPr id="50" name="Google Shape;50;p7"/>
          <p:cNvSpPr txBox="1"/>
          <p:nvPr>
            <p:ph type="ctrTitle"/>
          </p:nvPr>
        </p:nvSpPr>
        <p:spPr>
          <a:xfrm>
            <a:off x="5432000" y="710675"/>
            <a:ext cx="2888100" cy="2054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Clr>
                <a:srgbClr val="000000"/>
              </a:buClr>
              <a:buSzPts val="1600"/>
              <a:buNone/>
              <a:defRPr sz="1600">
                <a:solidFill>
                  <a:srgbClr val="000000"/>
                </a:solidFill>
              </a:defRPr>
            </a:lvl2pPr>
            <a:lvl3pPr lvl="2" rtl="0" algn="r">
              <a:spcBef>
                <a:spcPts val="0"/>
              </a:spcBef>
              <a:spcAft>
                <a:spcPts val="0"/>
              </a:spcAft>
              <a:buClr>
                <a:srgbClr val="000000"/>
              </a:buClr>
              <a:buSzPts val="1600"/>
              <a:buNone/>
              <a:defRPr sz="1600">
                <a:solidFill>
                  <a:srgbClr val="000000"/>
                </a:solidFill>
              </a:defRPr>
            </a:lvl3pPr>
            <a:lvl4pPr lvl="3" rtl="0" algn="r">
              <a:spcBef>
                <a:spcPts val="0"/>
              </a:spcBef>
              <a:spcAft>
                <a:spcPts val="0"/>
              </a:spcAft>
              <a:buClr>
                <a:srgbClr val="000000"/>
              </a:buClr>
              <a:buSzPts val="1600"/>
              <a:buNone/>
              <a:defRPr sz="1600">
                <a:solidFill>
                  <a:srgbClr val="000000"/>
                </a:solidFill>
              </a:defRPr>
            </a:lvl4pPr>
            <a:lvl5pPr lvl="4" rtl="0" algn="r">
              <a:spcBef>
                <a:spcPts val="0"/>
              </a:spcBef>
              <a:spcAft>
                <a:spcPts val="0"/>
              </a:spcAft>
              <a:buClr>
                <a:srgbClr val="000000"/>
              </a:buClr>
              <a:buSzPts val="1600"/>
              <a:buNone/>
              <a:defRPr sz="1600">
                <a:solidFill>
                  <a:srgbClr val="000000"/>
                </a:solidFill>
              </a:defRPr>
            </a:lvl5pPr>
            <a:lvl6pPr lvl="5" rtl="0" algn="r">
              <a:spcBef>
                <a:spcPts val="0"/>
              </a:spcBef>
              <a:spcAft>
                <a:spcPts val="0"/>
              </a:spcAft>
              <a:buClr>
                <a:srgbClr val="000000"/>
              </a:buClr>
              <a:buSzPts val="1600"/>
              <a:buNone/>
              <a:defRPr sz="1600">
                <a:solidFill>
                  <a:srgbClr val="000000"/>
                </a:solidFill>
              </a:defRPr>
            </a:lvl6pPr>
            <a:lvl7pPr lvl="6" rtl="0" algn="r">
              <a:spcBef>
                <a:spcPts val="0"/>
              </a:spcBef>
              <a:spcAft>
                <a:spcPts val="0"/>
              </a:spcAft>
              <a:buClr>
                <a:srgbClr val="000000"/>
              </a:buClr>
              <a:buSzPts val="1600"/>
              <a:buNone/>
              <a:defRPr sz="1600">
                <a:solidFill>
                  <a:srgbClr val="000000"/>
                </a:solidFill>
              </a:defRPr>
            </a:lvl7pPr>
            <a:lvl8pPr lvl="7" rtl="0" algn="r">
              <a:spcBef>
                <a:spcPts val="0"/>
              </a:spcBef>
              <a:spcAft>
                <a:spcPts val="0"/>
              </a:spcAft>
              <a:buClr>
                <a:srgbClr val="000000"/>
              </a:buClr>
              <a:buSzPts val="1600"/>
              <a:buNone/>
              <a:defRPr sz="1600">
                <a:solidFill>
                  <a:srgbClr val="000000"/>
                </a:solidFill>
              </a:defRPr>
            </a:lvl8pPr>
            <a:lvl9pPr lvl="8" rtl="0" algn="r">
              <a:spcBef>
                <a:spcPts val="0"/>
              </a:spcBef>
              <a:spcAft>
                <a:spcPts val="0"/>
              </a:spcAft>
              <a:buClr>
                <a:srgbClr val="000000"/>
              </a:buClr>
              <a:buSzPts val="1600"/>
              <a:buNone/>
              <a:defRPr sz="1600">
                <a:solidFill>
                  <a:srgbClr val="000000"/>
                </a:solidFill>
              </a:defRPr>
            </a:lvl9pPr>
          </a:lstStyle>
          <a:p/>
        </p:txBody>
      </p:sp>
      <p:sp>
        <p:nvSpPr>
          <p:cNvPr id="51" name="Google Shape;51;p7"/>
          <p:cNvSpPr txBox="1"/>
          <p:nvPr>
            <p:ph idx="1" type="subTitle"/>
          </p:nvPr>
        </p:nvSpPr>
        <p:spPr>
          <a:xfrm>
            <a:off x="5363550" y="2724625"/>
            <a:ext cx="2956500" cy="178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r">
              <a:lnSpc>
                <a:spcPct val="100000"/>
              </a:lnSpc>
              <a:spcBef>
                <a:spcPts val="0"/>
              </a:spcBef>
              <a:spcAft>
                <a:spcPts val="0"/>
              </a:spcAft>
              <a:buSzPts val="1200"/>
              <a:buNone/>
              <a:defRPr/>
            </a:lvl2pPr>
            <a:lvl3pPr lvl="2" rtl="0" algn="r">
              <a:lnSpc>
                <a:spcPct val="100000"/>
              </a:lnSpc>
              <a:spcBef>
                <a:spcPts val="0"/>
              </a:spcBef>
              <a:spcAft>
                <a:spcPts val="0"/>
              </a:spcAft>
              <a:buSzPts val="1200"/>
              <a:buNone/>
              <a:defRPr/>
            </a:lvl3pPr>
            <a:lvl4pPr lvl="3" rtl="0" algn="r">
              <a:lnSpc>
                <a:spcPct val="100000"/>
              </a:lnSpc>
              <a:spcBef>
                <a:spcPts val="0"/>
              </a:spcBef>
              <a:spcAft>
                <a:spcPts val="0"/>
              </a:spcAft>
              <a:buSzPts val="1200"/>
              <a:buNone/>
              <a:defRPr/>
            </a:lvl4pPr>
            <a:lvl5pPr lvl="4" rtl="0" algn="r">
              <a:lnSpc>
                <a:spcPct val="100000"/>
              </a:lnSpc>
              <a:spcBef>
                <a:spcPts val="0"/>
              </a:spcBef>
              <a:spcAft>
                <a:spcPts val="0"/>
              </a:spcAft>
              <a:buSzPts val="1200"/>
              <a:buNone/>
              <a:defRPr/>
            </a:lvl5pPr>
            <a:lvl6pPr lvl="5" rtl="0" algn="r">
              <a:lnSpc>
                <a:spcPct val="100000"/>
              </a:lnSpc>
              <a:spcBef>
                <a:spcPts val="0"/>
              </a:spcBef>
              <a:spcAft>
                <a:spcPts val="0"/>
              </a:spcAft>
              <a:buSzPts val="1200"/>
              <a:buNone/>
              <a:defRPr/>
            </a:lvl6pPr>
            <a:lvl7pPr lvl="6" rtl="0" algn="r">
              <a:lnSpc>
                <a:spcPct val="100000"/>
              </a:lnSpc>
              <a:spcBef>
                <a:spcPts val="0"/>
              </a:spcBef>
              <a:spcAft>
                <a:spcPts val="0"/>
              </a:spcAft>
              <a:buSzPts val="1200"/>
              <a:buNone/>
              <a:defRPr/>
            </a:lvl7pPr>
            <a:lvl8pPr lvl="7" rtl="0" algn="r">
              <a:lnSpc>
                <a:spcPct val="100000"/>
              </a:lnSpc>
              <a:spcBef>
                <a:spcPts val="0"/>
              </a:spcBef>
              <a:spcAft>
                <a:spcPts val="0"/>
              </a:spcAft>
              <a:buSzPts val="1200"/>
              <a:buNone/>
              <a:defRPr/>
            </a:lvl8pPr>
            <a:lvl9pPr lvl="8" rtl="0" algn="r">
              <a:lnSpc>
                <a:spcPct val="100000"/>
              </a:lnSpc>
              <a:spcBef>
                <a:spcPts val="0"/>
              </a:spcBef>
              <a:spcAft>
                <a:spcPts val="0"/>
              </a:spcAft>
              <a:buSzPts val="1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8">
    <p:spTree>
      <p:nvGrpSpPr>
        <p:cNvPr id="52" name="Shape 52"/>
        <p:cNvGrpSpPr/>
        <p:nvPr/>
      </p:nvGrpSpPr>
      <p:grpSpPr>
        <a:xfrm>
          <a:off x="0" y="0"/>
          <a:ext cx="0" cy="0"/>
          <a:chOff x="0" y="0"/>
          <a:chExt cx="0" cy="0"/>
        </a:xfrm>
      </p:grpSpPr>
      <p:sp>
        <p:nvSpPr>
          <p:cNvPr id="53" name="Google Shape;53;p8"/>
          <p:cNvSpPr txBox="1"/>
          <p:nvPr>
            <p:ph idx="1" type="subTitle"/>
          </p:nvPr>
        </p:nvSpPr>
        <p:spPr>
          <a:xfrm>
            <a:off x="915175" y="3380775"/>
            <a:ext cx="3960600" cy="6318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54" name="Google Shape;54;p8"/>
          <p:cNvSpPr txBox="1"/>
          <p:nvPr>
            <p:ph idx="2" type="subTitle"/>
          </p:nvPr>
        </p:nvSpPr>
        <p:spPr>
          <a:xfrm>
            <a:off x="915175" y="4004575"/>
            <a:ext cx="1821000" cy="2130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latin typeface="Livvic"/>
                <a:ea typeface="Livvic"/>
                <a:cs typeface="Livvic"/>
                <a:sym typeface="Livvic"/>
              </a:defRPr>
            </a:lvl1pPr>
            <a:lvl2pPr lvl="1" rtl="0">
              <a:spcBef>
                <a:spcPts val="1600"/>
              </a:spcBef>
              <a:spcAft>
                <a:spcPts val="0"/>
              </a:spcAft>
              <a:buNone/>
              <a:defRPr b="1">
                <a:latin typeface="Livvic"/>
                <a:ea typeface="Livvic"/>
                <a:cs typeface="Livvic"/>
                <a:sym typeface="Livvic"/>
              </a:defRPr>
            </a:lvl2pPr>
            <a:lvl3pPr lvl="2" rtl="0">
              <a:spcBef>
                <a:spcPts val="1600"/>
              </a:spcBef>
              <a:spcAft>
                <a:spcPts val="0"/>
              </a:spcAft>
              <a:buNone/>
              <a:defRPr b="1">
                <a:latin typeface="Livvic"/>
                <a:ea typeface="Livvic"/>
                <a:cs typeface="Livvic"/>
                <a:sym typeface="Livvic"/>
              </a:defRPr>
            </a:lvl3pPr>
            <a:lvl4pPr lvl="3" rtl="0">
              <a:spcBef>
                <a:spcPts val="1600"/>
              </a:spcBef>
              <a:spcAft>
                <a:spcPts val="0"/>
              </a:spcAft>
              <a:buNone/>
              <a:defRPr b="1">
                <a:latin typeface="Livvic"/>
                <a:ea typeface="Livvic"/>
                <a:cs typeface="Livvic"/>
                <a:sym typeface="Livvic"/>
              </a:defRPr>
            </a:lvl4pPr>
            <a:lvl5pPr lvl="4" rtl="0">
              <a:spcBef>
                <a:spcPts val="1600"/>
              </a:spcBef>
              <a:spcAft>
                <a:spcPts val="0"/>
              </a:spcAft>
              <a:buNone/>
              <a:defRPr b="1">
                <a:latin typeface="Livvic"/>
                <a:ea typeface="Livvic"/>
                <a:cs typeface="Livvic"/>
                <a:sym typeface="Livvic"/>
              </a:defRPr>
            </a:lvl5pPr>
            <a:lvl6pPr lvl="5" rtl="0">
              <a:spcBef>
                <a:spcPts val="1600"/>
              </a:spcBef>
              <a:spcAft>
                <a:spcPts val="0"/>
              </a:spcAft>
              <a:buNone/>
              <a:defRPr b="1">
                <a:latin typeface="Livvic"/>
                <a:ea typeface="Livvic"/>
                <a:cs typeface="Livvic"/>
                <a:sym typeface="Livvic"/>
              </a:defRPr>
            </a:lvl6pPr>
            <a:lvl7pPr lvl="6" rtl="0">
              <a:spcBef>
                <a:spcPts val="1600"/>
              </a:spcBef>
              <a:spcAft>
                <a:spcPts val="0"/>
              </a:spcAft>
              <a:buNone/>
              <a:defRPr b="1">
                <a:latin typeface="Livvic"/>
                <a:ea typeface="Livvic"/>
                <a:cs typeface="Livvic"/>
                <a:sym typeface="Livvic"/>
              </a:defRPr>
            </a:lvl7pPr>
            <a:lvl8pPr lvl="7" rtl="0">
              <a:spcBef>
                <a:spcPts val="1600"/>
              </a:spcBef>
              <a:spcAft>
                <a:spcPts val="0"/>
              </a:spcAft>
              <a:buNone/>
              <a:defRPr b="1">
                <a:latin typeface="Livvic"/>
                <a:ea typeface="Livvic"/>
                <a:cs typeface="Livvic"/>
                <a:sym typeface="Livvic"/>
              </a:defRPr>
            </a:lvl8pPr>
            <a:lvl9pPr lvl="8" rtl="0">
              <a:spcBef>
                <a:spcPts val="1600"/>
              </a:spcBef>
              <a:spcAft>
                <a:spcPts val="1600"/>
              </a:spcAft>
              <a:buNone/>
              <a:defRPr b="1">
                <a:latin typeface="Livvic"/>
                <a:ea typeface="Livvic"/>
                <a:cs typeface="Livvic"/>
                <a:sym typeface="Livvic"/>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3">
  <p:cSld name="CUSTOM_16">
    <p:spTree>
      <p:nvGrpSpPr>
        <p:cNvPr id="55" name="Shape 55"/>
        <p:cNvGrpSpPr/>
        <p:nvPr/>
      </p:nvGrpSpPr>
      <p:grpSpPr>
        <a:xfrm>
          <a:off x="0" y="0"/>
          <a:ext cx="0" cy="0"/>
          <a:chOff x="0" y="0"/>
          <a:chExt cx="0" cy="0"/>
        </a:xfrm>
      </p:grpSpPr>
      <p:sp>
        <p:nvSpPr>
          <p:cNvPr id="56" name="Google Shape;56;p9"/>
          <p:cNvSpPr txBox="1"/>
          <p:nvPr>
            <p:ph idx="1" type="subTitle"/>
          </p:nvPr>
        </p:nvSpPr>
        <p:spPr>
          <a:xfrm>
            <a:off x="2117847" y="3380460"/>
            <a:ext cx="2951400" cy="295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57" name="Google Shape;57;p9"/>
          <p:cNvSpPr txBox="1"/>
          <p:nvPr>
            <p:ph type="ctrTitle"/>
          </p:nvPr>
        </p:nvSpPr>
        <p:spPr>
          <a:xfrm rot="-5400000">
            <a:off x="-343101" y="1759150"/>
            <a:ext cx="2888100" cy="897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Clr>
                <a:srgbClr val="000000"/>
              </a:buClr>
              <a:buSzPts val="1600"/>
              <a:buNone/>
              <a:defRPr sz="1600">
                <a:solidFill>
                  <a:srgbClr val="000000"/>
                </a:solidFill>
              </a:defRPr>
            </a:lvl2pPr>
            <a:lvl3pPr lvl="2" rtl="0" algn="r">
              <a:spcBef>
                <a:spcPts val="0"/>
              </a:spcBef>
              <a:spcAft>
                <a:spcPts val="0"/>
              </a:spcAft>
              <a:buClr>
                <a:srgbClr val="000000"/>
              </a:buClr>
              <a:buSzPts val="1600"/>
              <a:buNone/>
              <a:defRPr sz="1600">
                <a:solidFill>
                  <a:srgbClr val="000000"/>
                </a:solidFill>
              </a:defRPr>
            </a:lvl3pPr>
            <a:lvl4pPr lvl="3" rtl="0" algn="r">
              <a:spcBef>
                <a:spcPts val="0"/>
              </a:spcBef>
              <a:spcAft>
                <a:spcPts val="0"/>
              </a:spcAft>
              <a:buClr>
                <a:srgbClr val="000000"/>
              </a:buClr>
              <a:buSzPts val="1600"/>
              <a:buNone/>
              <a:defRPr sz="1600">
                <a:solidFill>
                  <a:srgbClr val="000000"/>
                </a:solidFill>
              </a:defRPr>
            </a:lvl4pPr>
            <a:lvl5pPr lvl="4" rtl="0" algn="r">
              <a:spcBef>
                <a:spcPts val="0"/>
              </a:spcBef>
              <a:spcAft>
                <a:spcPts val="0"/>
              </a:spcAft>
              <a:buClr>
                <a:srgbClr val="000000"/>
              </a:buClr>
              <a:buSzPts val="1600"/>
              <a:buNone/>
              <a:defRPr sz="1600">
                <a:solidFill>
                  <a:srgbClr val="000000"/>
                </a:solidFill>
              </a:defRPr>
            </a:lvl5pPr>
            <a:lvl6pPr lvl="5" rtl="0" algn="r">
              <a:spcBef>
                <a:spcPts val="0"/>
              </a:spcBef>
              <a:spcAft>
                <a:spcPts val="0"/>
              </a:spcAft>
              <a:buClr>
                <a:srgbClr val="000000"/>
              </a:buClr>
              <a:buSzPts val="1600"/>
              <a:buNone/>
              <a:defRPr sz="1600">
                <a:solidFill>
                  <a:srgbClr val="000000"/>
                </a:solidFill>
              </a:defRPr>
            </a:lvl6pPr>
            <a:lvl7pPr lvl="6" rtl="0" algn="r">
              <a:spcBef>
                <a:spcPts val="0"/>
              </a:spcBef>
              <a:spcAft>
                <a:spcPts val="0"/>
              </a:spcAft>
              <a:buClr>
                <a:srgbClr val="000000"/>
              </a:buClr>
              <a:buSzPts val="1600"/>
              <a:buNone/>
              <a:defRPr sz="1600">
                <a:solidFill>
                  <a:srgbClr val="000000"/>
                </a:solidFill>
              </a:defRPr>
            </a:lvl7pPr>
            <a:lvl8pPr lvl="7" rtl="0" algn="r">
              <a:spcBef>
                <a:spcPts val="0"/>
              </a:spcBef>
              <a:spcAft>
                <a:spcPts val="0"/>
              </a:spcAft>
              <a:buClr>
                <a:srgbClr val="000000"/>
              </a:buClr>
              <a:buSzPts val="1600"/>
              <a:buNone/>
              <a:defRPr sz="1600">
                <a:solidFill>
                  <a:srgbClr val="000000"/>
                </a:solidFill>
              </a:defRPr>
            </a:lvl8pPr>
            <a:lvl9pPr lvl="8" rtl="0" algn="r">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4">
  <p:cSld name="CUSTOM_16_1">
    <p:spTree>
      <p:nvGrpSpPr>
        <p:cNvPr id="58" name="Shape 58"/>
        <p:cNvGrpSpPr/>
        <p:nvPr/>
      </p:nvGrpSpPr>
      <p:grpSpPr>
        <a:xfrm>
          <a:off x="0" y="0"/>
          <a:ext cx="0" cy="0"/>
          <a:chOff x="0" y="0"/>
          <a:chExt cx="0" cy="0"/>
        </a:xfrm>
      </p:grpSpPr>
      <p:sp>
        <p:nvSpPr>
          <p:cNvPr id="59" name="Google Shape;59;p10"/>
          <p:cNvSpPr txBox="1"/>
          <p:nvPr>
            <p:ph idx="1" type="subTitle"/>
          </p:nvPr>
        </p:nvSpPr>
        <p:spPr>
          <a:xfrm flipH="1">
            <a:off x="4189625" y="3380460"/>
            <a:ext cx="2951400" cy="295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60" name="Google Shape;60;p10"/>
          <p:cNvSpPr txBox="1"/>
          <p:nvPr>
            <p:ph type="ctrTitle"/>
          </p:nvPr>
        </p:nvSpPr>
        <p:spPr>
          <a:xfrm rot="5400000">
            <a:off x="6612409" y="1752564"/>
            <a:ext cx="2888100" cy="8979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35">
    <p:spTree>
      <p:nvGrpSpPr>
        <p:cNvPr id="61" name="Shape 61"/>
        <p:cNvGrpSpPr/>
        <p:nvPr/>
      </p:nvGrpSpPr>
      <p:grpSpPr>
        <a:xfrm>
          <a:off x="0" y="0"/>
          <a:ext cx="0" cy="0"/>
          <a:chOff x="0" y="0"/>
          <a:chExt cx="0" cy="0"/>
        </a:xfrm>
      </p:grpSpPr>
      <p:sp>
        <p:nvSpPr>
          <p:cNvPr id="62" name="Google Shape;62;p11"/>
          <p:cNvSpPr txBox="1"/>
          <p:nvPr>
            <p:ph type="title"/>
          </p:nvPr>
        </p:nvSpPr>
        <p:spPr>
          <a:xfrm>
            <a:off x="3200250" y="1742750"/>
            <a:ext cx="27432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latin typeface="Catamaran Light"/>
                <a:ea typeface="Catamaran Light"/>
                <a:cs typeface="Catamaran Light"/>
                <a:sym typeface="Catamaran Light"/>
              </a:defRPr>
            </a:lvl2pPr>
            <a:lvl3pPr lvl="2" algn="ctr">
              <a:spcBef>
                <a:spcPts val="0"/>
              </a:spcBef>
              <a:spcAft>
                <a:spcPts val="0"/>
              </a:spcAft>
              <a:buNone/>
              <a:defRPr sz="3600">
                <a:latin typeface="Catamaran Light"/>
                <a:ea typeface="Catamaran Light"/>
                <a:cs typeface="Catamaran Light"/>
                <a:sym typeface="Catamaran Light"/>
              </a:defRPr>
            </a:lvl3pPr>
            <a:lvl4pPr lvl="3" algn="ctr">
              <a:spcBef>
                <a:spcPts val="0"/>
              </a:spcBef>
              <a:spcAft>
                <a:spcPts val="0"/>
              </a:spcAft>
              <a:buNone/>
              <a:defRPr sz="3600">
                <a:latin typeface="Catamaran Light"/>
                <a:ea typeface="Catamaran Light"/>
                <a:cs typeface="Catamaran Light"/>
                <a:sym typeface="Catamaran Light"/>
              </a:defRPr>
            </a:lvl4pPr>
            <a:lvl5pPr lvl="4" algn="ctr">
              <a:spcBef>
                <a:spcPts val="0"/>
              </a:spcBef>
              <a:spcAft>
                <a:spcPts val="0"/>
              </a:spcAft>
              <a:buNone/>
              <a:defRPr sz="3600">
                <a:latin typeface="Catamaran Light"/>
                <a:ea typeface="Catamaran Light"/>
                <a:cs typeface="Catamaran Light"/>
                <a:sym typeface="Catamaran Light"/>
              </a:defRPr>
            </a:lvl5pPr>
            <a:lvl6pPr lvl="5" algn="ctr">
              <a:spcBef>
                <a:spcPts val="0"/>
              </a:spcBef>
              <a:spcAft>
                <a:spcPts val="0"/>
              </a:spcAft>
              <a:buNone/>
              <a:defRPr sz="3600">
                <a:latin typeface="Catamaran Light"/>
                <a:ea typeface="Catamaran Light"/>
                <a:cs typeface="Catamaran Light"/>
                <a:sym typeface="Catamaran Light"/>
              </a:defRPr>
            </a:lvl6pPr>
            <a:lvl7pPr lvl="6" algn="ctr">
              <a:spcBef>
                <a:spcPts val="0"/>
              </a:spcBef>
              <a:spcAft>
                <a:spcPts val="0"/>
              </a:spcAft>
              <a:buNone/>
              <a:defRPr sz="3600">
                <a:latin typeface="Catamaran Light"/>
                <a:ea typeface="Catamaran Light"/>
                <a:cs typeface="Catamaran Light"/>
                <a:sym typeface="Catamaran Light"/>
              </a:defRPr>
            </a:lvl7pPr>
            <a:lvl8pPr lvl="7" algn="ctr">
              <a:spcBef>
                <a:spcPts val="0"/>
              </a:spcBef>
              <a:spcAft>
                <a:spcPts val="0"/>
              </a:spcAft>
              <a:buNone/>
              <a:defRPr sz="3600">
                <a:latin typeface="Catamaran Light"/>
                <a:ea typeface="Catamaran Light"/>
                <a:cs typeface="Catamaran Light"/>
                <a:sym typeface="Catamaran Light"/>
              </a:defRPr>
            </a:lvl8pPr>
            <a:lvl9pPr lvl="8" algn="ctr">
              <a:spcBef>
                <a:spcPts val="0"/>
              </a:spcBef>
              <a:spcAft>
                <a:spcPts val="0"/>
              </a:spcAft>
              <a:buNone/>
              <a:defRPr sz="3600">
                <a:latin typeface="Catamaran Light"/>
                <a:ea typeface="Catamaran Light"/>
                <a:cs typeface="Catamaran Light"/>
                <a:sym typeface="Catamaran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CUSTOM_38">
    <p:spTree>
      <p:nvGrpSpPr>
        <p:cNvPr id="63" name="Shape 63"/>
        <p:cNvGrpSpPr/>
        <p:nvPr/>
      </p:nvGrpSpPr>
      <p:grpSpPr>
        <a:xfrm>
          <a:off x="0" y="0"/>
          <a:ext cx="0" cy="0"/>
          <a:chOff x="0" y="0"/>
          <a:chExt cx="0" cy="0"/>
        </a:xfrm>
      </p:grpSpPr>
      <p:sp>
        <p:nvSpPr>
          <p:cNvPr id="64" name="Google Shape;64;p12"/>
          <p:cNvSpPr txBox="1"/>
          <p:nvPr>
            <p:ph type="ctrTitle"/>
          </p:nvPr>
        </p:nvSpPr>
        <p:spPr>
          <a:xfrm>
            <a:off x="769725" y="1310050"/>
            <a:ext cx="34302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65" name="Google Shape;65;p12"/>
          <p:cNvSpPr txBox="1"/>
          <p:nvPr>
            <p:ph hasCustomPrompt="1" idx="2" type="title"/>
          </p:nvPr>
        </p:nvSpPr>
        <p:spPr>
          <a:xfrm rot="5400000">
            <a:off x="7142178" y="3570226"/>
            <a:ext cx="1738800" cy="577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6000"/>
            </a:lvl1pPr>
            <a:lvl2pPr lvl="1"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30">
    <p:spTree>
      <p:nvGrpSpPr>
        <p:cNvPr id="66" name="Shape 66"/>
        <p:cNvGrpSpPr/>
        <p:nvPr/>
      </p:nvGrpSpPr>
      <p:grpSpPr>
        <a:xfrm>
          <a:off x="0" y="0"/>
          <a:ext cx="0" cy="0"/>
          <a:chOff x="0" y="0"/>
          <a:chExt cx="0" cy="0"/>
        </a:xfrm>
      </p:grpSpPr>
      <p:sp>
        <p:nvSpPr>
          <p:cNvPr id="67" name="Google Shape;67;p13"/>
          <p:cNvSpPr txBox="1"/>
          <p:nvPr>
            <p:ph type="ctrTitle"/>
          </p:nvPr>
        </p:nvSpPr>
        <p:spPr>
          <a:xfrm>
            <a:off x="656422" y="1394416"/>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68" name="Google Shape;68;p13"/>
          <p:cNvSpPr txBox="1"/>
          <p:nvPr>
            <p:ph idx="1" type="subTitle"/>
          </p:nvPr>
        </p:nvSpPr>
        <p:spPr>
          <a:xfrm>
            <a:off x="656425" y="1886725"/>
            <a:ext cx="15639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69" name="Google Shape;69;p13"/>
          <p:cNvSpPr txBox="1"/>
          <p:nvPr>
            <p:ph idx="2" type="ctrTitle"/>
          </p:nvPr>
        </p:nvSpPr>
        <p:spPr>
          <a:xfrm>
            <a:off x="2650710" y="139441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0" name="Google Shape;70;p13"/>
          <p:cNvSpPr txBox="1"/>
          <p:nvPr>
            <p:ph idx="3" type="subTitle"/>
          </p:nvPr>
        </p:nvSpPr>
        <p:spPr>
          <a:xfrm>
            <a:off x="2610700" y="1886725"/>
            <a:ext cx="19614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0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71" name="Google Shape;71;p13"/>
          <p:cNvSpPr txBox="1"/>
          <p:nvPr>
            <p:ph idx="4" type="ctrTitle"/>
          </p:nvPr>
        </p:nvSpPr>
        <p:spPr>
          <a:xfrm>
            <a:off x="4638106" y="1394416"/>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
        <p:nvSpPr>
          <p:cNvPr id="72" name="Google Shape;72;p13"/>
          <p:cNvSpPr txBox="1"/>
          <p:nvPr>
            <p:ph idx="5" type="subTitle"/>
          </p:nvPr>
        </p:nvSpPr>
        <p:spPr>
          <a:xfrm>
            <a:off x="4878076" y="1886725"/>
            <a:ext cx="1648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73" name="Google Shape;73;p13"/>
          <p:cNvSpPr txBox="1"/>
          <p:nvPr>
            <p:ph idx="6" type="ctrTitle"/>
          </p:nvPr>
        </p:nvSpPr>
        <p:spPr>
          <a:xfrm rot="5400000">
            <a:off x="6865575" y="1466125"/>
            <a:ext cx="25530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74" name="Google Shape;74;p13"/>
          <p:cNvSpPr txBox="1"/>
          <p:nvPr>
            <p:ph idx="7" type="ctrTitle"/>
          </p:nvPr>
        </p:nvSpPr>
        <p:spPr>
          <a:xfrm>
            <a:off x="656422" y="3367816"/>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5" name="Google Shape;75;p13"/>
          <p:cNvSpPr txBox="1"/>
          <p:nvPr>
            <p:ph idx="8" type="subTitle"/>
          </p:nvPr>
        </p:nvSpPr>
        <p:spPr>
          <a:xfrm>
            <a:off x="656425" y="3860125"/>
            <a:ext cx="15639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76" name="Google Shape;76;p13"/>
          <p:cNvSpPr txBox="1"/>
          <p:nvPr>
            <p:ph idx="9" type="ctrTitle"/>
          </p:nvPr>
        </p:nvSpPr>
        <p:spPr>
          <a:xfrm>
            <a:off x="2650710" y="336781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7" name="Google Shape;77;p13"/>
          <p:cNvSpPr txBox="1"/>
          <p:nvPr>
            <p:ph idx="13" type="subTitle"/>
          </p:nvPr>
        </p:nvSpPr>
        <p:spPr>
          <a:xfrm>
            <a:off x="2610700" y="3860125"/>
            <a:ext cx="19614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0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78" name="Google Shape;78;p13"/>
          <p:cNvSpPr txBox="1"/>
          <p:nvPr>
            <p:ph idx="14" type="ctrTitle"/>
          </p:nvPr>
        </p:nvSpPr>
        <p:spPr>
          <a:xfrm>
            <a:off x="4638106" y="3367816"/>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
        <p:nvSpPr>
          <p:cNvPr id="79" name="Google Shape;79;p13"/>
          <p:cNvSpPr txBox="1"/>
          <p:nvPr>
            <p:ph idx="15" type="subTitle"/>
          </p:nvPr>
        </p:nvSpPr>
        <p:spPr>
          <a:xfrm>
            <a:off x="4878076" y="3860125"/>
            <a:ext cx="1648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CUSTOM_31">
    <p:spTree>
      <p:nvGrpSpPr>
        <p:cNvPr id="80" name="Shape 80"/>
        <p:cNvGrpSpPr/>
        <p:nvPr/>
      </p:nvGrpSpPr>
      <p:grpSpPr>
        <a:xfrm>
          <a:off x="0" y="0"/>
          <a:ext cx="0" cy="0"/>
          <a:chOff x="0" y="0"/>
          <a:chExt cx="0" cy="0"/>
        </a:xfrm>
      </p:grpSpPr>
      <p:sp>
        <p:nvSpPr>
          <p:cNvPr id="81" name="Google Shape;81;p14"/>
          <p:cNvSpPr txBox="1"/>
          <p:nvPr>
            <p:ph type="ctrTitle"/>
          </p:nvPr>
        </p:nvSpPr>
        <p:spPr>
          <a:xfrm rot="5400000">
            <a:off x="6603595" y="1930225"/>
            <a:ext cx="3481200" cy="4875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CUSTOM_21">
    <p:spTree>
      <p:nvGrpSpPr>
        <p:cNvPr id="82" name="Shape 82"/>
        <p:cNvGrpSpPr/>
        <p:nvPr/>
      </p:nvGrpSpPr>
      <p:grpSpPr>
        <a:xfrm>
          <a:off x="0" y="0"/>
          <a:ext cx="0" cy="0"/>
          <a:chOff x="0" y="0"/>
          <a:chExt cx="0" cy="0"/>
        </a:xfrm>
      </p:grpSpPr>
      <p:sp>
        <p:nvSpPr>
          <p:cNvPr id="83" name="Google Shape;83;p15"/>
          <p:cNvSpPr txBox="1"/>
          <p:nvPr>
            <p:ph idx="1" type="subTitle"/>
          </p:nvPr>
        </p:nvSpPr>
        <p:spPr>
          <a:xfrm>
            <a:off x="4633950" y="1847896"/>
            <a:ext cx="18180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84" name="Google Shape;84;p15"/>
          <p:cNvSpPr txBox="1"/>
          <p:nvPr>
            <p:ph idx="2" type="subTitle"/>
          </p:nvPr>
        </p:nvSpPr>
        <p:spPr>
          <a:xfrm>
            <a:off x="4633950" y="3827870"/>
            <a:ext cx="18180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85" name="Google Shape;85;p15"/>
          <p:cNvSpPr txBox="1"/>
          <p:nvPr>
            <p:ph type="ctrTitle"/>
          </p:nvPr>
        </p:nvSpPr>
        <p:spPr>
          <a:xfrm>
            <a:off x="4633950" y="1539296"/>
            <a:ext cx="2619300" cy="3849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6" name="Google Shape;86;p15"/>
          <p:cNvSpPr txBox="1"/>
          <p:nvPr>
            <p:ph idx="3" type="ctrTitle"/>
          </p:nvPr>
        </p:nvSpPr>
        <p:spPr>
          <a:xfrm>
            <a:off x="4633950" y="3519270"/>
            <a:ext cx="2619300" cy="3849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7" name="Google Shape;87;p15"/>
          <p:cNvSpPr txBox="1"/>
          <p:nvPr>
            <p:ph idx="4" type="ctrTitle"/>
          </p:nvPr>
        </p:nvSpPr>
        <p:spPr>
          <a:xfrm rot="5400000">
            <a:off x="6917175" y="1414524"/>
            <a:ext cx="2449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extLst>
    <p:ext uri="{DCECCB84-F9BA-43D5-87BE-67443E8EF086}">
      <p15:sldGuideLst>
        <p15:guide id="1" orient="horz" pos="51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5">
  <p:cSld name="CUSTOM_32">
    <p:spTree>
      <p:nvGrpSpPr>
        <p:cNvPr id="88" name="Shape 88"/>
        <p:cNvGrpSpPr/>
        <p:nvPr/>
      </p:nvGrpSpPr>
      <p:grpSpPr>
        <a:xfrm>
          <a:off x="0" y="0"/>
          <a:ext cx="0" cy="0"/>
          <a:chOff x="0" y="0"/>
          <a:chExt cx="0" cy="0"/>
        </a:xfrm>
      </p:grpSpPr>
      <p:sp>
        <p:nvSpPr>
          <p:cNvPr id="89" name="Google Shape;89;p16"/>
          <p:cNvSpPr txBox="1"/>
          <p:nvPr>
            <p:ph idx="1" type="subTitle"/>
          </p:nvPr>
        </p:nvSpPr>
        <p:spPr>
          <a:xfrm>
            <a:off x="2258125" y="3106325"/>
            <a:ext cx="3029100" cy="1009500"/>
          </a:xfrm>
          <a:prstGeom prst="rect">
            <a:avLst/>
          </a:prstGeom>
        </p:spPr>
        <p:txBody>
          <a:bodyPr anchorCtr="0" anchor="t" bIns="91425" lIns="91425" spcFirstLastPara="1" rIns="91425" wrap="square" tIns="91425">
            <a:noAutofit/>
          </a:bodyPr>
          <a:lstStyle>
            <a:lvl1pPr lvl="0">
              <a:spcBef>
                <a:spcPts val="0"/>
              </a:spcBef>
              <a:spcAft>
                <a:spcPts val="0"/>
              </a:spcAft>
              <a:buNone/>
              <a:defRPr sz="11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90" name="Google Shape;90;p16"/>
          <p:cNvSpPr txBox="1"/>
          <p:nvPr>
            <p:ph type="ctrTitle"/>
          </p:nvPr>
        </p:nvSpPr>
        <p:spPr>
          <a:xfrm rot="5400000">
            <a:off x="7241489" y="1041025"/>
            <a:ext cx="1702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4">
  <p:cSld name="CUSTOM_33">
    <p:spTree>
      <p:nvGrpSpPr>
        <p:cNvPr id="91" name="Shape 91"/>
        <p:cNvGrpSpPr/>
        <p:nvPr/>
      </p:nvGrpSpPr>
      <p:grpSpPr>
        <a:xfrm>
          <a:off x="0" y="0"/>
          <a:ext cx="0" cy="0"/>
          <a:chOff x="0" y="0"/>
          <a:chExt cx="0" cy="0"/>
        </a:xfrm>
      </p:grpSpPr>
      <p:sp>
        <p:nvSpPr>
          <p:cNvPr id="92" name="Google Shape;92;p17"/>
          <p:cNvSpPr txBox="1"/>
          <p:nvPr>
            <p:ph idx="1" type="subTitle"/>
          </p:nvPr>
        </p:nvSpPr>
        <p:spPr>
          <a:xfrm flipH="1">
            <a:off x="840600" y="2432150"/>
            <a:ext cx="1650300" cy="753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000">
                <a:solidFill>
                  <a:srgbClr val="000000"/>
                </a:solidFill>
              </a:defRPr>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3" name="Google Shape;93;p17"/>
          <p:cNvSpPr txBox="1"/>
          <p:nvPr>
            <p:ph idx="2" type="subTitle"/>
          </p:nvPr>
        </p:nvSpPr>
        <p:spPr>
          <a:xfrm>
            <a:off x="4702174" y="1049093"/>
            <a:ext cx="19602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000">
                <a:solidFill>
                  <a:srgbClr val="000000"/>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94" name="Google Shape;94;p17"/>
          <p:cNvSpPr txBox="1"/>
          <p:nvPr>
            <p:ph type="ctrTitle"/>
          </p:nvPr>
        </p:nvSpPr>
        <p:spPr>
          <a:xfrm>
            <a:off x="-533400" y="2047350"/>
            <a:ext cx="3024300" cy="3849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95" name="Google Shape;95;p17"/>
          <p:cNvSpPr txBox="1"/>
          <p:nvPr>
            <p:ph idx="3" type="ctrTitle"/>
          </p:nvPr>
        </p:nvSpPr>
        <p:spPr>
          <a:xfrm>
            <a:off x="4702174" y="664293"/>
            <a:ext cx="2619300" cy="3849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6" name="Google Shape;96;p17"/>
          <p:cNvSpPr txBox="1"/>
          <p:nvPr>
            <p:ph idx="4" type="subTitle"/>
          </p:nvPr>
        </p:nvSpPr>
        <p:spPr>
          <a:xfrm>
            <a:off x="4702174" y="3788925"/>
            <a:ext cx="22149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000">
                <a:solidFill>
                  <a:srgbClr val="000000"/>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97" name="Google Shape;97;p17"/>
          <p:cNvSpPr txBox="1"/>
          <p:nvPr>
            <p:ph idx="5" type="ctrTitle"/>
          </p:nvPr>
        </p:nvSpPr>
        <p:spPr>
          <a:xfrm>
            <a:off x="4702174" y="3389725"/>
            <a:ext cx="2475600" cy="3849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8" name="Google Shape;98;p17"/>
          <p:cNvSpPr txBox="1"/>
          <p:nvPr>
            <p:ph idx="6" type="ctrTitle"/>
          </p:nvPr>
        </p:nvSpPr>
        <p:spPr>
          <a:xfrm rot="5400000">
            <a:off x="6860962" y="1407498"/>
            <a:ext cx="2449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extLst>
    <p:ext uri="{DCECCB84-F9BA-43D5-87BE-67443E8EF086}">
      <p15:sldGuideLst>
        <p15:guide id="1" orient="horz" pos="510">
          <p15:clr>
            <a:srgbClr val="FA7B17"/>
          </p15:clr>
        </p15:guide>
        <p15:guide id="2" pos="454">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CUSTOM_34">
    <p:spTree>
      <p:nvGrpSpPr>
        <p:cNvPr id="99" name="Shape 99"/>
        <p:cNvGrpSpPr/>
        <p:nvPr/>
      </p:nvGrpSpPr>
      <p:grpSpPr>
        <a:xfrm>
          <a:off x="0" y="0"/>
          <a:ext cx="0" cy="0"/>
          <a:chOff x="0" y="0"/>
          <a:chExt cx="0" cy="0"/>
        </a:xfrm>
      </p:grpSpPr>
      <p:sp>
        <p:nvSpPr>
          <p:cNvPr id="100" name="Google Shape;100;p18"/>
          <p:cNvSpPr txBox="1"/>
          <p:nvPr>
            <p:ph type="ctrTitle"/>
          </p:nvPr>
        </p:nvSpPr>
        <p:spPr>
          <a:xfrm rot="5400000">
            <a:off x="6860962" y="1407498"/>
            <a:ext cx="2449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01" name="Google Shape;101;p18"/>
          <p:cNvSpPr txBox="1"/>
          <p:nvPr>
            <p:ph idx="1" type="subTitle"/>
          </p:nvPr>
        </p:nvSpPr>
        <p:spPr>
          <a:xfrm>
            <a:off x="1579064" y="2147200"/>
            <a:ext cx="16266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0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102" name="Google Shape;102;p18"/>
          <p:cNvSpPr txBox="1"/>
          <p:nvPr>
            <p:ph idx="2" type="ctrTitle"/>
          </p:nvPr>
        </p:nvSpPr>
        <p:spPr>
          <a:xfrm>
            <a:off x="1579064" y="1762400"/>
            <a:ext cx="2619300" cy="3849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03" name="Google Shape;103;p18"/>
          <p:cNvSpPr txBox="1"/>
          <p:nvPr>
            <p:ph idx="3" type="subTitle"/>
          </p:nvPr>
        </p:nvSpPr>
        <p:spPr>
          <a:xfrm>
            <a:off x="4068269" y="2147200"/>
            <a:ext cx="16266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000">
                <a:solidFill>
                  <a:srgbClr val="000000"/>
                </a:solidFill>
              </a:defRPr>
            </a:lvl1pPr>
            <a:lvl2pPr lvl="1" rtl="0" algn="r">
              <a:lnSpc>
                <a:spcPct val="100000"/>
              </a:lnSpc>
              <a:spcBef>
                <a:spcPts val="0"/>
              </a:spcBef>
              <a:spcAft>
                <a:spcPts val="0"/>
              </a:spcAft>
              <a:buClr>
                <a:srgbClr val="000000"/>
              </a:buClr>
              <a:buSzPts val="1000"/>
              <a:buNone/>
              <a:defRPr sz="1000">
                <a:solidFill>
                  <a:srgbClr val="000000"/>
                </a:solidFill>
              </a:defRPr>
            </a:lvl2pPr>
            <a:lvl3pPr lvl="2" rtl="0" algn="r">
              <a:lnSpc>
                <a:spcPct val="100000"/>
              </a:lnSpc>
              <a:spcBef>
                <a:spcPts val="0"/>
              </a:spcBef>
              <a:spcAft>
                <a:spcPts val="0"/>
              </a:spcAft>
              <a:buClr>
                <a:srgbClr val="000000"/>
              </a:buClr>
              <a:buSzPts val="1000"/>
              <a:buNone/>
              <a:defRPr sz="1000">
                <a:solidFill>
                  <a:srgbClr val="000000"/>
                </a:solidFill>
              </a:defRPr>
            </a:lvl3pPr>
            <a:lvl4pPr lvl="3" rtl="0" algn="r">
              <a:lnSpc>
                <a:spcPct val="100000"/>
              </a:lnSpc>
              <a:spcBef>
                <a:spcPts val="0"/>
              </a:spcBef>
              <a:spcAft>
                <a:spcPts val="0"/>
              </a:spcAft>
              <a:buClr>
                <a:srgbClr val="000000"/>
              </a:buClr>
              <a:buSzPts val="1000"/>
              <a:buNone/>
              <a:defRPr sz="1000">
                <a:solidFill>
                  <a:srgbClr val="000000"/>
                </a:solidFill>
              </a:defRPr>
            </a:lvl4pPr>
            <a:lvl5pPr lvl="4" rtl="0" algn="r">
              <a:lnSpc>
                <a:spcPct val="100000"/>
              </a:lnSpc>
              <a:spcBef>
                <a:spcPts val="0"/>
              </a:spcBef>
              <a:spcAft>
                <a:spcPts val="0"/>
              </a:spcAft>
              <a:buClr>
                <a:srgbClr val="000000"/>
              </a:buClr>
              <a:buSzPts val="1000"/>
              <a:buNone/>
              <a:defRPr sz="1000">
                <a:solidFill>
                  <a:srgbClr val="000000"/>
                </a:solidFill>
              </a:defRPr>
            </a:lvl5pPr>
            <a:lvl6pPr lvl="5" rtl="0" algn="r">
              <a:lnSpc>
                <a:spcPct val="100000"/>
              </a:lnSpc>
              <a:spcBef>
                <a:spcPts val="0"/>
              </a:spcBef>
              <a:spcAft>
                <a:spcPts val="0"/>
              </a:spcAft>
              <a:buClr>
                <a:srgbClr val="000000"/>
              </a:buClr>
              <a:buSzPts val="1000"/>
              <a:buNone/>
              <a:defRPr sz="1000">
                <a:solidFill>
                  <a:srgbClr val="000000"/>
                </a:solidFill>
              </a:defRPr>
            </a:lvl6pPr>
            <a:lvl7pPr lvl="6" rtl="0" algn="r">
              <a:lnSpc>
                <a:spcPct val="100000"/>
              </a:lnSpc>
              <a:spcBef>
                <a:spcPts val="0"/>
              </a:spcBef>
              <a:spcAft>
                <a:spcPts val="0"/>
              </a:spcAft>
              <a:buClr>
                <a:srgbClr val="000000"/>
              </a:buClr>
              <a:buSzPts val="1000"/>
              <a:buNone/>
              <a:defRPr sz="1000">
                <a:solidFill>
                  <a:srgbClr val="000000"/>
                </a:solidFill>
              </a:defRPr>
            </a:lvl7pPr>
            <a:lvl8pPr lvl="7" rtl="0" algn="r">
              <a:lnSpc>
                <a:spcPct val="100000"/>
              </a:lnSpc>
              <a:spcBef>
                <a:spcPts val="0"/>
              </a:spcBef>
              <a:spcAft>
                <a:spcPts val="0"/>
              </a:spcAft>
              <a:buClr>
                <a:srgbClr val="000000"/>
              </a:buClr>
              <a:buSzPts val="1000"/>
              <a:buNone/>
              <a:defRPr sz="1000">
                <a:solidFill>
                  <a:srgbClr val="000000"/>
                </a:solidFill>
              </a:defRPr>
            </a:lvl8pPr>
            <a:lvl9pPr lvl="8" rtl="0" algn="r">
              <a:lnSpc>
                <a:spcPct val="100000"/>
              </a:lnSpc>
              <a:spcBef>
                <a:spcPts val="0"/>
              </a:spcBef>
              <a:spcAft>
                <a:spcPts val="0"/>
              </a:spcAft>
              <a:buClr>
                <a:srgbClr val="000000"/>
              </a:buClr>
              <a:buSzPts val="1000"/>
              <a:buNone/>
              <a:defRPr sz="1000">
                <a:solidFill>
                  <a:srgbClr val="000000"/>
                </a:solidFill>
              </a:defRPr>
            </a:lvl9pPr>
          </a:lstStyle>
          <a:p/>
        </p:txBody>
      </p:sp>
      <p:sp>
        <p:nvSpPr>
          <p:cNvPr id="104" name="Google Shape;104;p18"/>
          <p:cNvSpPr txBox="1"/>
          <p:nvPr>
            <p:ph idx="4" type="ctrTitle"/>
          </p:nvPr>
        </p:nvSpPr>
        <p:spPr>
          <a:xfrm>
            <a:off x="3075567" y="1762400"/>
            <a:ext cx="2619300" cy="3849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6">
  <p:cSld name="CUSTOM_11_1_2_1">
    <p:spTree>
      <p:nvGrpSpPr>
        <p:cNvPr id="105" name="Shape 105"/>
        <p:cNvGrpSpPr/>
        <p:nvPr/>
      </p:nvGrpSpPr>
      <p:grpSpPr>
        <a:xfrm>
          <a:off x="0" y="0"/>
          <a:ext cx="0" cy="0"/>
          <a:chOff x="0" y="0"/>
          <a:chExt cx="0" cy="0"/>
        </a:xfrm>
      </p:grpSpPr>
      <p:sp>
        <p:nvSpPr>
          <p:cNvPr id="106" name="Google Shape;106;p19"/>
          <p:cNvSpPr txBox="1"/>
          <p:nvPr>
            <p:ph type="ctrTitle"/>
          </p:nvPr>
        </p:nvSpPr>
        <p:spPr>
          <a:xfrm>
            <a:off x="831200" y="376498"/>
            <a:ext cx="3867300" cy="20541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p:txBody>
      </p:sp>
      <p:sp>
        <p:nvSpPr>
          <p:cNvPr id="107" name="Google Shape;107;p19"/>
          <p:cNvSpPr txBox="1"/>
          <p:nvPr>
            <p:ph idx="1" type="subTitle"/>
          </p:nvPr>
        </p:nvSpPr>
        <p:spPr>
          <a:xfrm>
            <a:off x="831200" y="2314225"/>
            <a:ext cx="3081600" cy="178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CUSTOM_25">
    <p:spTree>
      <p:nvGrpSpPr>
        <p:cNvPr id="108" name="Shape 108"/>
        <p:cNvGrpSpPr/>
        <p:nvPr/>
      </p:nvGrpSpPr>
      <p:grpSpPr>
        <a:xfrm>
          <a:off x="0" y="0"/>
          <a:ext cx="0" cy="0"/>
          <a:chOff x="0" y="0"/>
          <a:chExt cx="0" cy="0"/>
        </a:xfrm>
      </p:grpSpPr>
      <p:sp>
        <p:nvSpPr>
          <p:cNvPr id="109" name="Google Shape;109;p20"/>
          <p:cNvSpPr txBox="1"/>
          <p:nvPr>
            <p:ph idx="1" type="body"/>
          </p:nvPr>
        </p:nvSpPr>
        <p:spPr>
          <a:xfrm>
            <a:off x="642050" y="2134800"/>
            <a:ext cx="5308200" cy="1476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Char char="●"/>
              <a:defRPr>
                <a:solidFill>
                  <a:srgbClr val="000000"/>
                </a:solidFill>
              </a:defRPr>
            </a:lvl1pPr>
            <a:lvl2pPr indent="-304800" lvl="1" marL="914400" rtl="0">
              <a:spcBef>
                <a:spcPts val="1600"/>
              </a:spcBef>
              <a:spcAft>
                <a:spcPts val="0"/>
              </a:spcAft>
              <a:buClr>
                <a:srgbClr val="000000"/>
              </a:buClr>
              <a:buSzPts val="1200"/>
              <a:buChar char="○"/>
              <a:defRPr>
                <a:solidFill>
                  <a:srgbClr val="000000"/>
                </a:solidFill>
              </a:defRPr>
            </a:lvl2pPr>
            <a:lvl3pPr indent="-304800" lvl="2" marL="1371600" rtl="0">
              <a:spcBef>
                <a:spcPts val="1600"/>
              </a:spcBef>
              <a:spcAft>
                <a:spcPts val="0"/>
              </a:spcAft>
              <a:buClr>
                <a:srgbClr val="000000"/>
              </a:buClr>
              <a:buSzPts val="1200"/>
              <a:buChar char="■"/>
              <a:defRPr>
                <a:solidFill>
                  <a:srgbClr val="000000"/>
                </a:solidFill>
              </a:defRPr>
            </a:lvl3pPr>
            <a:lvl4pPr indent="-304800" lvl="3" marL="1828800" rtl="0">
              <a:spcBef>
                <a:spcPts val="1600"/>
              </a:spcBef>
              <a:spcAft>
                <a:spcPts val="0"/>
              </a:spcAft>
              <a:buClr>
                <a:srgbClr val="000000"/>
              </a:buClr>
              <a:buSzPts val="1200"/>
              <a:buChar char="●"/>
              <a:defRPr>
                <a:solidFill>
                  <a:srgbClr val="000000"/>
                </a:solidFill>
              </a:defRPr>
            </a:lvl4pPr>
            <a:lvl5pPr indent="-304800" lvl="4" marL="2286000" rtl="0">
              <a:spcBef>
                <a:spcPts val="1600"/>
              </a:spcBef>
              <a:spcAft>
                <a:spcPts val="0"/>
              </a:spcAft>
              <a:buClr>
                <a:srgbClr val="000000"/>
              </a:buClr>
              <a:buSzPts val="1200"/>
              <a:buChar char="○"/>
              <a:defRPr>
                <a:solidFill>
                  <a:srgbClr val="000000"/>
                </a:solidFill>
              </a:defRPr>
            </a:lvl5pPr>
            <a:lvl6pPr indent="-304800" lvl="5" marL="2743200" rtl="0">
              <a:spcBef>
                <a:spcPts val="1600"/>
              </a:spcBef>
              <a:spcAft>
                <a:spcPts val="0"/>
              </a:spcAft>
              <a:buClr>
                <a:srgbClr val="000000"/>
              </a:buClr>
              <a:buSzPts val="1200"/>
              <a:buChar char="■"/>
              <a:defRPr>
                <a:solidFill>
                  <a:srgbClr val="000000"/>
                </a:solidFill>
              </a:defRPr>
            </a:lvl6pPr>
            <a:lvl7pPr indent="-304800" lvl="6" marL="3200400" rtl="0">
              <a:spcBef>
                <a:spcPts val="1600"/>
              </a:spcBef>
              <a:spcAft>
                <a:spcPts val="0"/>
              </a:spcAft>
              <a:buClr>
                <a:srgbClr val="000000"/>
              </a:buClr>
              <a:buSzPts val="1200"/>
              <a:buChar char="●"/>
              <a:defRPr>
                <a:solidFill>
                  <a:srgbClr val="000000"/>
                </a:solidFill>
              </a:defRPr>
            </a:lvl7pPr>
            <a:lvl8pPr indent="-304800" lvl="7" marL="3657600" rtl="0">
              <a:spcBef>
                <a:spcPts val="1600"/>
              </a:spcBef>
              <a:spcAft>
                <a:spcPts val="0"/>
              </a:spcAft>
              <a:buClr>
                <a:srgbClr val="000000"/>
              </a:buClr>
              <a:buSzPts val="1200"/>
              <a:buChar char="○"/>
              <a:defRPr>
                <a:solidFill>
                  <a:srgbClr val="000000"/>
                </a:solidFill>
              </a:defRPr>
            </a:lvl8pPr>
            <a:lvl9pPr indent="-304800" lvl="8" marL="4114800" rtl="0">
              <a:spcBef>
                <a:spcPts val="1600"/>
              </a:spcBef>
              <a:spcAft>
                <a:spcPts val="1600"/>
              </a:spcAft>
              <a:buClr>
                <a:srgbClr val="000000"/>
              </a:buClr>
              <a:buSzPts val="1200"/>
              <a:buChar char="■"/>
              <a:defRPr>
                <a:solidFill>
                  <a:srgbClr val="000000"/>
                </a:solidFill>
              </a:defRPr>
            </a:lvl9pPr>
          </a:lstStyle>
          <a:p/>
        </p:txBody>
      </p:sp>
      <p:sp>
        <p:nvSpPr>
          <p:cNvPr id="110" name="Google Shape;110;p20"/>
          <p:cNvSpPr txBox="1"/>
          <p:nvPr>
            <p:ph type="ctrTitle"/>
          </p:nvPr>
        </p:nvSpPr>
        <p:spPr>
          <a:xfrm rot="5400000">
            <a:off x="6923109" y="1407498"/>
            <a:ext cx="2449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CUSTOM_25_1">
    <p:spTree>
      <p:nvGrpSpPr>
        <p:cNvPr id="111" name="Shape 111"/>
        <p:cNvGrpSpPr/>
        <p:nvPr/>
      </p:nvGrpSpPr>
      <p:grpSpPr>
        <a:xfrm>
          <a:off x="0" y="0"/>
          <a:ext cx="0" cy="0"/>
          <a:chOff x="0" y="0"/>
          <a:chExt cx="0" cy="0"/>
        </a:xfrm>
      </p:grpSpPr>
      <p:sp>
        <p:nvSpPr>
          <p:cNvPr id="112" name="Google Shape;112;p21"/>
          <p:cNvSpPr txBox="1"/>
          <p:nvPr>
            <p:ph idx="1" type="body"/>
          </p:nvPr>
        </p:nvSpPr>
        <p:spPr>
          <a:xfrm>
            <a:off x="642050" y="1277550"/>
            <a:ext cx="5308200" cy="1476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Char char="●"/>
              <a:defRPr>
                <a:solidFill>
                  <a:srgbClr val="000000"/>
                </a:solidFill>
              </a:defRPr>
            </a:lvl1pPr>
            <a:lvl2pPr indent="-304800" lvl="1" marL="914400" rtl="0">
              <a:spcBef>
                <a:spcPts val="1600"/>
              </a:spcBef>
              <a:spcAft>
                <a:spcPts val="0"/>
              </a:spcAft>
              <a:buClr>
                <a:srgbClr val="000000"/>
              </a:buClr>
              <a:buSzPts val="1200"/>
              <a:buChar char="○"/>
              <a:defRPr>
                <a:solidFill>
                  <a:srgbClr val="000000"/>
                </a:solidFill>
              </a:defRPr>
            </a:lvl2pPr>
            <a:lvl3pPr indent="-304800" lvl="2" marL="1371600" rtl="0">
              <a:spcBef>
                <a:spcPts val="1600"/>
              </a:spcBef>
              <a:spcAft>
                <a:spcPts val="0"/>
              </a:spcAft>
              <a:buClr>
                <a:srgbClr val="000000"/>
              </a:buClr>
              <a:buSzPts val="1200"/>
              <a:buChar char="■"/>
              <a:defRPr>
                <a:solidFill>
                  <a:srgbClr val="000000"/>
                </a:solidFill>
              </a:defRPr>
            </a:lvl3pPr>
            <a:lvl4pPr indent="-304800" lvl="3" marL="1828800" rtl="0">
              <a:spcBef>
                <a:spcPts val="1600"/>
              </a:spcBef>
              <a:spcAft>
                <a:spcPts val="0"/>
              </a:spcAft>
              <a:buClr>
                <a:srgbClr val="000000"/>
              </a:buClr>
              <a:buSzPts val="1200"/>
              <a:buChar char="●"/>
              <a:defRPr>
                <a:solidFill>
                  <a:srgbClr val="000000"/>
                </a:solidFill>
              </a:defRPr>
            </a:lvl4pPr>
            <a:lvl5pPr indent="-304800" lvl="4" marL="2286000" rtl="0">
              <a:spcBef>
                <a:spcPts val="1600"/>
              </a:spcBef>
              <a:spcAft>
                <a:spcPts val="0"/>
              </a:spcAft>
              <a:buClr>
                <a:srgbClr val="000000"/>
              </a:buClr>
              <a:buSzPts val="1200"/>
              <a:buChar char="○"/>
              <a:defRPr>
                <a:solidFill>
                  <a:srgbClr val="000000"/>
                </a:solidFill>
              </a:defRPr>
            </a:lvl5pPr>
            <a:lvl6pPr indent="-304800" lvl="5" marL="2743200" rtl="0">
              <a:spcBef>
                <a:spcPts val="1600"/>
              </a:spcBef>
              <a:spcAft>
                <a:spcPts val="0"/>
              </a:spcAft>
              <a:buClr>
                <a:srgbClr val="000000"/>
              </a:buClr>
              <a:buSzPts val="1200"/>
              <a:buChar char="■"/>
              <a:defRPr>
                <a:solidFill>
                  <a:srgbClr val="000000"/>
                </a:solidFill>
              </a:defRPr>
            </a:lvl6pPr>
            <a:lvl7pPr indent="-304800" lvl="6" marL="3200400" rtl="0">
              <a:spcBef>
                <a:spcPts val="1600"/>
              </a:spcBef>
              <a:spcAft>
                <a:spcPts val="0"/>
              </a:spcAft>
              <a:buClr>
                <a:srgbClr val="000000"/>
              </a:buClr>
              <a:buSzPts val="1200"/>
              <a:buChar char="●"/>
              <a:defRPr>
                <a:solidFill>
                  <a:srgbClr val="000000"/>
                </a:solidFill>
              </a:defRPr>
            </a:lvl7pPr>
            <a:lvl8pPr indent="-304800" lvl="7" marL="3657600" rtl="0">
              <a:spcBef>
                <a:spcPts val="1600"/>
              </a:spcBef>
              <a:spcAft>
                <a:spcPts val="0"/>
              </a:spcAft>
              <a:buClr>
                <a:srgbClr val="000000"/>
              </a:buClr>
              <a:buSzPts val="1200"/>
              <a:buChar char="○"/>
              <a:defRPr>
                <a:solidFill>
                  <a:srgbClr val="000000"/>
                </a:solidFill>
              </a:defRPr>
            </a:lvl8pPr>
            <a:lvl9pPr indent="-304800" lvl="8" marL="4114800" rtl="0">
              <a:spcBef>
                <a:spcPts val="1600"/>
              </a:spcBef>
              <a:spcAft>
                <a:spcPts val="1600"/>
              </a:spcAft>
              <a:buClr>
                <a:srgbClr val="000000"/>
              </a:buClr>
              <a:buSzPts val="1200"/>
              <a:buChar char="■"/>
              <a:defRPr>
                <a:solidFill>
                  <a:srgbClr val="000000"/>
                </a:solidFill>
              </a:defRPr>
            </a:lvl9pPr>
          </a:lstStyle>
          <a:p/>
        </p:txBody>
      </p:sp>
      <p:sp>
        <p:nvSpPr>
          <p:cNvPr id="113" name="Google Shape;113;p21"/>
          <p:cNvSpPr txBox="1"/>
          <p:nvPr>
            <p:ph type="ctrTitle"/>
          </p:nvPr>
        </p:nvSpPr>
        <p:spPr>
          <a:xfrm rot="5400000">
            <a:off x="6923109" y="1407498"/>
            <a:ext cx="2449800" cy="487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14" name="Google Shape;114;p21"/>
          <p:cNvSpPr txBox="1"/>
          <p:nvPr>
            <p:ph idx="2" type="subTitle"/>
          </p:nvPr>
        </p:nvSpPr>
        <p:spPr>
          <a:xfrm>
            <a:off x="642050" y="540000"/>
            <a:ext cx="4655400" cy="96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indent="-304800" lvl="1" marL="9144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indent="-304800" lvl="2" marL="13716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indent="-304800" lvl="3" marL="1828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indent="-304800" lvl="4" marL="22860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indent="-304800" lvl="5" marL="27432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indent="-304800" lvl="6" marL="32004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indent="-304800" lvl="7" marL="36576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indent="-304800" lvl="8" marL="411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pic>
        <p:nvPicPr>
          <p:cNvPr id="119" name="Google Shape;119;p22"/>
          <p:cNvPicPr preferRelativeResize="0"/>
          <p:nvPr/>
        </p:nvPicPr>
        <p:blipFill rotWithShape="1">
          <a:blip r:embed="rId3">
            <a:alphaModFix/>
          </a:blip>
          <a:srcRect b="0" l="767" r="15843" t="7252"/>
          <a:stretch/>
        </p:blipFill>
        <p:spPr>
          <a:xfrm>
            <a:off x="2206820" y="0"/>
            <a:ext cx="6937178" cy="5143497"/>
          </a:xfrm>
          <a:prstGeom prst="rect">
            <a:avLst/>
          </a:prstGeom>
          <a:noFill/>
          <a:ln>
            <a:noFill/>
          </a:ln>
        </p:spPr>
      </p:pic>
      <p:sp>
        <p:nvSpPr>
          <p:cNvPr id="120" name="Google Shape;120;p22"/>
          <p:cNvSpPr/>
          <p:nvPr/>
        </p:nvSpPr>
        <p:spPr>
          <a:xfrm rot="5400000">
            <a:off x="1428875" y="13850"/>
            <a:ext cx="3358800" cy="502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txBox="1"/>
          <p:nvPr>
            <p:ph idx="1" type="subTitle"/>
          </p:nvPr>
        </p:nvSpPr>
        <p:spPr>
          <a:xfrm>
            <a:off x="595025" y="3430350"/>
            <a:ext cx="4217400" cy="71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Team Mary Paley: Carmen Vega, Emily Wu, Mario Zhao, Jing Huang, &amp; Rania Nasser</a:t>
            </a:r>
            <a:endParaRPr>
              <a:solidFill>
                <a:schemeClr val="lt1"/>
              </a:solidFill>
            </a:endParaRPr>
          </a:p>
        </p:txBody>
      </p:sp>
      <p:sp>
        <p:nvSpPr>
          <p:cNvPr id="122" name="Google Shape;122;p22"/>
          <p:cNvSpPr txBox="1"/>
          <p:nvPr>
            <p:ph type="ctrTitle"/>
          </p:nvPr>
        </p:nvSpPr>
        <p:spPr>
          <a:xfrm>
            <a:off x="595025" y="1996400"/>
            <a:ext cx="5556300" cy="17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u="sng">
                <a:solidFill>
                  <a:schemeClr val="lt1"/>
                </a:solidFill>
              </a:rPr>
              <a:t>EEP 153 PROJ 3</a:t>
            </a:r>
            <a:endParaRPr sz="3600" u="sng">
              <a:solidFill>
                <a:schemeClr val="lt1"/>
              </a:solidFill>
            </a:endParaRPr>
          </a:p>
          <a:p>
            <a:pPr indent="0" lvl="0" marL="0" rtl="0" algn="l">
              <a:spcBef>
                <a:spcPts val="0"/>
              </a:spcBef>
              <a:spcAft>
                <a:spcPts val="0"/>
              </a:spcAft>
              <a:buNone/>
            </a:pPr>
            <a:r>
              <a:rPr lang="en" sz="3600">
                <a:solidFill>
                  <a:schemeClr val="lt1"/>
                </a:solidFill>
              </a:rPr>
              <a:t>UGANDA FOOD &amp; CONSUMER DEMAND DURING WET &amp; DRY SEASONS</a:t>
            </a:r>
            <a:endParaRPr sz="3600">
              <a:solidFill>
                <a:schemeClr val="lt1"/>
              </a:solidFill>
              <a:latin typeface="Livvic"/>
              <a:ea typeface="Livvic"/>
              <a:cs typeface="Livvic"/>
              <a:sym typeface="Livv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6" name="Shape 126"/>
        <p:cNvGrpSpPr/>
        <p:nvPr/>
      </p:nvGrpSpPr>
      <p:grpSpPr>
        <a:xfrm>
          <a:off x="0" y="0"/>
          <a:ext cx="0" cy="0"/>
          <a:chOff x="0" y="0"/>
          <a:chExt cx="0" cy="0"/>
        </a:xfrm>
      </p:grpSpPr>
      <p:sp>
        <p:nvSpPr>
          <p:cNvPr id="127" name="Google Shape;127;p23"/>
          <p:cNvSpPr txBox="1"/>
          <p:nvPr>
            <p:ph idx="9" type="ctrTitle"/>
          </p:nvPr>
        </p:nvSpPr>
        <p:spPr>
          <a:xfrm>
            <a:off x="3413203" y="735675"/>
            <a:ext cx="45381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PROJECT GOALS</a:t>
            </a:r>
            <a:endParaRPr>
              <a:solidFill>
                <a:schemeClr val="accent1"/>
              </a:solidFill>
            </a:endParaRPr>
          </a:p>
        </p:txBody>
      </p:sp>
      <p:sp>
        <p:nvSpPr>
          <p:cNvPr id="128" name="Google Shape;128;p23"/>
          <p:cNvSpPr/>
          <p:nvPr/>
        </p:nvSpPr>
        <p:spPr>
          <a:xfrm flipH="1" rot="-5400000">
            <a:off x="-957850" y="957900"/>
            <a:ext cx="5140800" cy="322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3"/>
          <p:cNvSpPr txBox="1"/>
          <p:nvPr>
            <p:ph idx="7" type="subTitle"/>
          </p:nvPr>
        </p:nvSpPr>
        <p:spPr>
          <a:xfrm>
            <a:off x="3417300" y="3451175"/>
            <a:ext cx="3899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Determine whether affordability or availability is the main constraint during drought years through empirical and inflation-adjusted analysis.</a:t>
            </a:r>
            <a:endParaRPr/>
          </a:p>
        </p:txBody>
      </p:sp>
      <p:sp>
        <p:nvSpPr>
          <p:cNvPr id="130" name="Google Shape;130;p23"/>
          <p:cNvSpPr txBox="1"/>
          <p:nvPr>
            <p:ph idx="6" type="ctrTitle"/>
          </p:nvPr>
        </p:nvSpPr>
        <p:spPr>
          <a:xfrm>
            <a:off x="3417302" y="3037075"/>
            <a:ext cx="5726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IDENTIFY THE ECONOMIC DRIVERS OF FOOD INSECURITY</a:t>
            </a:r>
            <a:endParaRPr/>
          </a:p>
        </p:txBody>
      </p:sp>
      <p:sp>
        <p:nvSpPr>
          <p:cNvPr id="131" name="Google Shape;131;p23"/>
          <p:cNvSpPr txBox="1"/>
          <p:nvPr>
            <p:ph idx="8" type="title"/>
          </p:nvPr>
        </p:nvSpPr>
        <p:spPr>
          <a:xfrm>
            <a:off x="2012307" y="3299438"/>
            <a:ext cx="15735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03</a:t>
            </a:r>
            <a:endParaRPr>
              <a:solidFill>
                <a:schemeClr val="lt1"/>
              </a:solidFill>
            </a:endParaRPr>
          </a:p>
        </p:txBody>
      </p:sp>
      <p:sp>
        <p:nvSpPr>
          <p:cNvPr id="132" name="Google Shape;132;p23"/>
          <p:cNvSpPr txBox="1"/>
          <p:nvPr>
            <p:ph type="ctrTitle"/>
          </p:nvPr>
        </p:nvSpPr>
        <p:spPr>
          <a:xfrm>
            <a:off x="3413198" y="1363450"/>
            <a:ext cx="53325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INTERPRET HOUSEHOLD FOOD DEMAND IN UGANDA</a:t>
            </a:r>
            <a:endParaRPr/>
          </a:p>
        </p:txBody>
      </p:sp>
      <p:sp>
        <p:nvSpPr>
          <p:cNvPr id="133" name="Google Shape;133;p23"/>
          <p:cNvSpPr txBox="1"/>
          <p:nvPr>
            <p:ph idx="1" type="subTitle"/>
          </p:nvPr>
        </p:nvSpPr>
        <p:spPr>
          <a:xfrm>
            <a:off x="3413200" y="1778500"/>
            <a:ext cx="40986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 how households allocate expenditures across food categories using price and income responsiveness through demand system estimation.</a:t>
            </a:r>
            <a:endParaRPr/>
          </a:p>
        </p:txBody>
      </p:sp>
      <p:sp>
        <p:nvSpPr>
          <p:cNvPr id="134" name="Google Shape;134;p23"/>
          <p:cNvSpPr txBox="1"/>
          <p:nvPr>
            <p:ph idx="2" type="title"/>
          </p:nvPr>
        </p:nvSpPr>
        <p:spPr>
          <a:xfrm>
            <a:off x="2012307" y="1630088"/>
            <a:ext cx="17391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01</a:t>
            </a:r>
            <a:endParaRPr>
              <a:solidFill>
                <a:schemeClr val="lt1"/>
              </a:solidFill>
            </a:endParaRPr>
          </a:p>
        </p:txBody>
      </p:sp>
      <p:sp>
        <p:nvSpPr>
          <p:cNvPr id="135" name="Google Shape;135;p23"/>
          <p:cNvSpPr txBox="1"/>
          <p:nvPr>
            <p:ph idx="3" type="ctrTitle"/>
          </p:nvPr>
        </p:nvSpPr>
        <p:spPr>
          <a:xfrm>
            <a:off x="3414575" y="2200250"/>
            <a:ext cx="52230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ANALYZE THE EFFECT OF CLIMATE SHOCKS ON CONSUMPTION</a:t>
            </a:r>
            <a:endParaRPr/>
          </a:p>
        </p:txBody>
      </p:sp>
      <p:sp>
        <p:nvSpPr>
          <p:cNvPr id="136" name="Google Shape;136;p23"/>
          <p:cNvSpPr txBox="1"/>
          <p:nvPr>
            <p:ph idx="4" type="subTitle"/>
          </p:nvPr>
        </p:nvSpPr>
        <p:spPr>
          <a:xfrm>
            <a:off x="3414539" y="2614825"/>
            <a:ext cx="42705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Evaluate how rainfall variability—particularly wet vs. dry years—impacts household food access, nutritional quality, and purchasing power.</a:t>
            </a:r>
            <a:endParaRPr/>
          </a:p>
        </p:txBody>
      </p:sp>
      <p:sp>
        <p:nvSpPr>
          <p:cNvPr id="137" name="Google Shape;137;p23"/>
          <p:cNvSpPr txBox="1"/>
          <p:nvPr>
            <p:ph idx="5" type="title"/>
          </p:nvPr>
        </p:nvSpPr>
        <p:spPr>
          <a:xfrm>
            <a:off x="2012307" y="2464763"/>
            <a:ext cx="16152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02</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41" name="Shape 141"/>
        <p:cNvGrpSpPr/>
        <p:nvPr/>
      </p:nvGrpSpPr>
      <p:grpSpPr>
        <a:xfrm>
          <a:off x="0" y="0"/>
          <a:ext cx="0" cy="0"/>
          <a:chOff x="0" y="0"/>
          <a:chExt cx="0" cy="0"/>
        </a:xfrm>
      </p:grpSpPr>
      <p:sp>
        <p:nvSpPr>
          <p:cNvPr id="142" name="Google Shape;142;p24"/>
          <p:cNvSpPr txBox="1"/>
          <p:nvPr>
            <p:ph type="ctrTitle"/>
          </p:nvPr>
        </p:nvSpPr>
        <p:spPr>
          <a:xfrm>
            <a:off x="1039575" y="1701225"/>
            <a:ext cx="5896800" cy="17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WHY ARE WE INTERESTED IN RAINFALL?</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pic>
        <p:nvPicPr>
          <p:cNvPr id="147" name="Google Shape;147;p25"/>
          <p:cNvPicPr preferRelativeResize="0"/>
          <p:nvPr/>
        </p:nvPicPr>
        <p:blipFill rotWithShape="1">
          <a:blip r:embed="rId3">
            <a:alphaModFix/>
          </a:blip>
          <a:srcRect b="0" l="8090" r="21128" t="0"/>
          <a:stretch/>
        </p:blipFill>
        <p:spPr>
          <a:xfrm>
            <a:off x="5381625" y="0"/>
            <a:ext cx="3761922" cy="5143500"/>
          </a:xfrm>
          <a:prstGeom prst="rect">
            <a:avLst/>
          </a:prstGeom>
          <a:noFill/>
          <a:ln>
            <a:noFill/>
          </a:ln>
        </p:spPr>
      </p:pic>
      <p:sp>
        <p:nvSpPr>
          <p:cNvPr id="148" name="Google Shape;148;p25"/>
          <p:cNvSpPr txBox="1"/>
          <p:nvPr>
            <p:ph type="title"/>
          </p:nvPr>
        </p:nvSpPr>
        <p:spPr>
          <a:xfrm>
            <a:off x="174475" y="447500"/>
            <a:ext cx="5161800" cy="8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accent1"/>
                </a:solidFill>
              </a:rPr>
              <a:t>AGRICULTURE</a:t>
            </a:r>
            <a:r>
              <a:rPr lang="en" sz="3000">
                <a:solidFill>
                  <a:schemeClr val="accent1"/>
                </a:solidFill>
              </a:rPr>
              <a:t> AND CLIMATE DEPENDENCE </a:t>
            </a:r>
            <a:endParaRPr sz="3000">
              <a:solidFill>
                <a:schemeClr val="accent1"/>
              </a:solidFill>
            </a:endParaRPr>
          </a:p>
          <a:p>
            <a:pPr indent="0" lvl="0" marL="0" rtl="0" algn="l">
              <a:spcBef>
                <a:spcPts val="0"/>
              </a:spcBef>
              <a:spcAft>
                <a:spcPts val="0"/>
              </a:spcAft>
              <a:buNone/>
            </a:pPr>
            <a:r>
              <a:t/>
            </a:r>
            <a:endParaRPr/>
          </a:p>
        </p:txBody>
      </p:sp>
      <p:sp>
        <p:nvSpPr>
          <p:cNvPr id="149" name="Google Shape;149;p25"/>
          <p:cNvSpPr txBox="1"/>
          <p:nvPr>
            <p:ph idx="4294967295" type="subTitle"/>
          </p:nvPr>
        </p:nvSpPr>
        <p:spPr>
          <a:xfrm>
            <a:off x="174475" y="1225150"/>
            <a:ext cx="4880400" cy="3602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Catamaran"/>
              <a:buChar char="●"/>
            </a:pPr>
            <a:r>
              <a:rPr b="1" lang="en">
                <a:latin typeface="Catamaran"/>
                <a:ea typeface="Catamaran"/>
                <a:cs typeface="Catamaran"/>
                <a:sym typeface="Catamaran"/>
              </a:rPr>
              <a:t>East African Country</a:t>
            </a:r>
            <a:endParaRPr b="1">
              <a:latin typeface="Catamaran"/>
              <a:ea typeface="Catamaran"/>
              <a:cs typeface="Catamaran"/>
              <a:sym typeface="Catamaran"/>
            </a:endParaRPr>
          </a:p>
          <a:p>
            <a:pPr indent="-304800" lvl="1" marL="914400" rtl="0" algn="l">
              <a:spcBef>
                <a:spcPts val="0"/>
              </a:spcBef>
              <a:spcAft>
                <a:spcPts val="0"/>
              </a:spcAft>
              <a:buSzPts val="1200"/>
              <a:buChar char="○"/>
            </a:pPr>
            <a:r>
              <a:rPr lang="en"/>
              <a:t>Uganda’s economy is heavily reliant on agriculture, which employs over 70% of the population and contributes significantly to GDP and household livelihoods.</a:t>
            </a:r>
            <a:endParaRPr/>
          </a:p>
          <a:p>
            <a:pPr indent="-304800" lvl="0" marL="457200" rtl="0" algn="l">
              <a:spcBef>
                <a:spcPts val="0"/>
              </a:spcBef>
              <a:spcAft>
                <a:spcPts val="0"/>
              </a:spcAft>
              <a:buSzPts val="1200"/>
              <a:buFont typeface="Catamaran"/>
              <a:buChar char="●"/>
            </a:pPr>
            <a:r>
              <a:rPr b="1" lang="en">
                <a:latin typeface="Catamaran"/>
                <a:ea typeface="Catamaran"/>
                <a:cs typeface="Catamaran"/>
                <a:sym typeface="Catamaran"/>
              </a:rPr>
              <a:t>Over 70% of Food Production is Rain-Fed</a:t>
            </a:r>
            <a:endParaRPr b="1">
              <a:latin typeface="Catamaran"/>
              <a:ea typeface="Catamaran"/>
              <a:cs typeface="Catamaran"/>
              <a:sym typeface="Catamaran"/>
            </a:endParaRPr>
          </a:p>
          <a:p>
            <a:pPr indent="-304800" lvl="1" marL="914400" rtl="0" algn="l">
              <a:spcBef>
                <a:spcPts val="0"/>
              </a:spcBef>
              <a:spcAft>
                <a:spcPts val="0"/>
              </a:spcAft>
              <a:buSzPts val="1200"/>
              <a:buChar char="○"/>
            </a:pPr>
            <a:r>
              <a:rPr lang="en"/>
              <a:t>Most Ugandan households depend on seasonal rainfall for crop production, with minimal irrigation infrastructure.</a:t>
            </a:r>
            <a:endParaRPr/>
          </a:p>
          <a:p>
            <a:pPr indent="-304800" lvl="0" marL="457200" rtl="0" algn="l">
              <a:spcBef>
                <a:spcPts val="0"/>
              </a:spcBef>
              <a:spcAft>
                <a:spcPts val="0"/>
              </a:spcAft>
              <a:buSzPts val="1200"/>
              <a:buFont typeface="Catamaran"/>
              <a:buChar char="●"/>
            </a:pPr>
            <a:r>
              <a:rPr b="1" lang="en">
                <a:latin typeface="Catamaran"/>
                <a:ea typeface="Catamaran"/>
                <a:cs typeface="Catamaran"/>
                <a:sym typeface="Catamaran"/>
              </a:rPr>
              <a:t>Rural Households Most Vulnerable</a:t>
            </a:r>
            <a:endParaRPr b="1">
              <a:latin typeface="Catamaran"/>
              <a:ea typeface="Catamaran"/>
              <a:cs typeface="Catamaran"/>
              <a:sym typeface="Catamaran"/>
            </a:endParaRPr>
          </a:p>
          <a:p>
            <a:pPr indent="-304800" lvl="1" marL="914400" rtl="0" algn="l">
              <a:spcBef>
                <a:spcPts val="0"/>
              </a:spcBef>
              <a:spcAft>
                <a:spcPts val="0"/>
              </a:spcAft>
              <a:buSzPts val="1200"/>
              <a:buChar char="○"/>
            </a:pPr>
            <a:r>
              <a:rPr lang="en"/>
              <a:t>Rural communities are especially at risk, as they face the greatest exposure to crop failures, price shocks, and food insecurity during extreme weather events.</a:t>
            </a:r>
            <a:endParaRPr/>
          </a:p>
          <a:p>
            <a:pPr indent="-304800" lvl="0" marL="457200" rtl="0" algn="l">
              <a:spcBef>
                <a:spcPts val="0"/>
              </a:spcBef>
              <a:spcAft>
                <a:spcPts val="0"/>
              </a:spcAft>
              <a:buSzPts val="1200"/>
              <a:buFont typeface="Catamaran"/>
              <a:buChar char="●"/>
            </a:pPr>
            <a:r>
              <a:rPr b="1" lang="en">
                <a:latin typeface="Catamaran"/>
                <a:ea typeface="Catamaran"/>
                <a:cs typeface="Catamaran"/>
                <a:sym typeface="Catamaran"/>
              </a:rPr>
              <a:t>Frequent Wet/Dry Cycles Affect Demand</a:t>
            </a:r>
            <a:endParaRPr b="1">
              <a:latin typeface="Catamaran"/>
              <a:ea typeface="Catamaran"/>
              <a:cs typeface="Catamaran"/>
              <a:sym typeface="Catamaran"/>
            </a:endParaRPr>
          </a:p>
          <a:p>
            <a:pPr indent="-304800" lvl="1" marL="914400" rtl="0" algn="l">
              <a:spcBef>
                <a:spcPts val="0"/>
              </a:spcBef>
              <a:spcAft>
                <a:spcPts val="0"/>
              </a:spcAft>
              <a:buSzPts val="1200"/>
              <a:buChar char="○"/>
            </a:pPr>
            <a:r>
              <a:rPr lang="en"/>
              <a:t>Uganda experiences cycles of drought and excess rainfall, both of which disrupt food availability, impact prices, and shift household consumption patterns.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3">
            <a:alphaModFix/>
          </a:blip>
          <a:srcRect b="15687" l="0" r="0" t="15687"/>
          <a:stretch/>
        </p:blipFill>
        <p:spPr>
          <a:xfrm>
            <a:off x="0" y="2623525"/>
            <a:ext cx="4091936" cy="1867500"/>
          </a:xfrm>
          <a:prstGeom prst="rect">
            <a:avLst/>
          </a:prstGeom>
          <a:noFill/>
          <a:ln>
            <a:noFill/>
          </a:ln>
        </p:spPr>
      </p:pic>
      <p:pic>
        <p:nvPicPr>
          <p:cNvPr id="155" name="Google Shape;155;p26"/>
          <p:cNvPicPr preferRelativeResize="0"/>
          <p:nvPr/>
        </p:nvPicPr>
        <p:blipFill rotWithShape="1">
          <a:blip r:embed="rId4">
            <a:alphaModFix/>
          </a:blip>
          <a:srcRect b="33212" l="0" r="0" t="-1719"/>
          <a:stretch/>
        </p:blipFill>
        <p:spPr>
          <a:xfrm>
            <a:off x="0" y="652475"/>
            <a:ext cx="4091851" cy="1867501"/>
          </a:xfrm>
          <a:prstGeom prst="rect">
            <a:avLst/>
          </a:prstGeom>
          <a:noFill/>
          <a:ln>
            <a:noFill/>
          </a:ln>
        </p:spPr>
      </p:pic>
      <p:sp>
        <p:nvSpPr>
          <p:cNvPr id="156" name="Google Shape;156;p26"/>
          <p:cNvSpPr txBox="1"/>
          <p:nvPr>
            <p:ph idx="1" type="subTitle"/>
          </p:nvPr>
        </p:nvSpPr>
        <p:spPr>
          <a:xfrm>
            <a:off x="4633950" y="1847900"/>
            <a:ext cx="3229500" cy="6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Least annual </a:t>
            </a:r>
            <a:r>
              <a:rPr lang="en"/>
              <a:t>precipitation</a:t>
            </a:r>
            <a:r>
              <a:rPr lang="en"/>
              <a:t>: Years 2005-06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Extreme Drought Months: Years 2010-11</a:t>
            </a:r>
            <a:endParaRPr/>
          </a:p>
        </p:txBody>
      </p:sp>
      <p:sp>
        <p:nvSpPr>
          <p:cNvPr id="157" name="Google Shape;157;p26"/>
          <p:cNvSpPr txBox="1"/>
          <p:nvPr>
            <p:ph idx="2" type="subTitle"/>
          </p:nvPr>
        </p:nvSpPr>
        <p:spPr>
          <a:xfrm>
            <a:off x="4633950" y="3827875"/>
            <a:ext cx="36210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annual precipitation: Years 2018-19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Extreme Wet Months: Years 2015-16</a:t>
            </a:r>
            <a:endParaRPr/>
          </a:p>
        </p:txBody>
      </p:sp>
      <p:sp>
        <p:nvSpPr>
          <p:cNvPr id="158" name="Google Shape;158;p26"/>
          <p:cNvSpPr txBox="1"/>
          <p:nvPr>
            <p:ph type="ctrTitle"/>
          </p:nvPr>
        </p:nvSpPr>
        <p:spPr>
          <a:xfrm>
            <a:off x="4633950" y="1539300"/>
            <a:ext cx="3028500" cy="38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DROUGHT PERIODS</a:t>
            </a:r>
            <a:endParaRPr>
              <a:solidFill>
                <a:schemeClr val="lt1"/>
              </a:solidFill>
            </a:endParaRPr>
          </a:p>
        </p:txBody>
      </p:sp>
      <p:sp>
        <p:nvSpPr>
          <p:cNvPr id="159" name="Google Shape;159;p26"/>
          <p:cNvSpPr txBox="1"/>
          <p:nvPr>
            <p:ph idx="3" type="ctrTitle"/>
          </p:nvPr>
        </p:nvSpPr>
        <p:spPr>
          <a:xfrm>
            <a:off x="4633950" y="3519270"/>
            <a:ext cx="2619300" cy="38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WET PERIODS</a:t>
            </a:r>
            <a:endParaRPr>
              <a:solidFill>
                <a:schemeClr val="lt1"/>
              </a:solidFill>
            </a:endParaRPr>
          </a:p>
        </p:txBody>
      </p:sp>
      <p:sp>
        <p:nvSpPr>
          <p:cNvPr id="160" name="Google Shape;160;p26"/>
          <p:cNvSpPr/>
          <p:nvPr/>
        </p:nvSpPr>
        <p:spPr>
          <a:xfrm>
            <a:off x="4091850" y="652475"/>
            <a:ext cx="159300" cy="186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4091850" y="2623525"/>
            <a:ext cx="159300" cy="186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65" name="Shape 165"/>
        <p:cNvGrpSpPr/>
        <p:nvPr/>
      </p:nvGrpSpPr>
      <p:grpSpPr>
        <a:xfrm>
          <a:off x="0" y="0"/>
          <a:ext cx="0" cy="0"/>
          <a:chOff x="0" y="0"/>
          <a:chExt cx="0" cy="0"/>
        </a:xfrm>
      </p:grpSpPr>
      <p:sp>
        <p:nvSpPr>
          <p:cNvPr id="166" name="Google Shape;166;p27"/>
          <p:cNvSpPr txBox="1"/>
          <p:nvPr>
            <p:ph type="title"/>
          </p:nvPr>
        </p:nvSpPr>
        <p:spPr>
          <a:xfrm>
            <a:off x="693300" y="1453400"/>
            <a:ext cx="4359900" cy="1549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3000">
                <a:solidFill>
                  <a:schemeClr val="lt1"/>
                </a:solidFill>
              </a:rPr>
              <a:t>INTERPRETING FOOD DEMAND SYSTEM </a:t>
            </a:r>
            <a:endParaRPr sz="3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28"/>
          <p:cNvSpPr txBox="1"/>
          <p:nvPr>
            <p:ph type="title"/>
          </p:nvPr>
        </p:nvSpPr>
        <p:spPr>
          <a:xfrm>
            <a:off x="226275" y="152300"/>
            <a:ext cx="8537100" cy="89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GATHERING DATA</a:t>
            </a:r>
            <a:endParaRPr sz="3000">
              <a:solidFill>
                <a:schemeClr val="accent1"/>
              </a:solidFill>
            </a:endParaRPr>
          </a:p>
        </p:txBody>
      </p:sp>
      <p:pic>
        <p:nvPicPr>
          <p:cNvPr id="172" name="Google Shape;172;p28"/>
          <p:cNvPicPr preferRelativeResize="0"/>
          <p:nvPr/>
        </p:nvPicPr>
        <p:blipFill>
          <a:blip r:embed="rId3">
            <a:alphaModFix/>
          </a:blip>
          <a:stretch>
            <a:fillRect/>
          </a:stretch>
        </p:blipFill>
        <p:spPr>
          <a:xfrm>
            <a:off x="4337775" y="1193000"/>
            <a:ext cx="3964721" cy="3167300"/>
          </a:xfrm>
          <a:prstGeom prst="rect">
            <a:avLst/>
          </a:prstGeom>
          <a:noFill/>
          <a:ln cap="flat" cmpd="sng" w="19050">
            <a:solidFill>
              <a:schemeClr val="accent4"/>
            </a:solidFill>
            <a:prstDash val="solid"/>
            <a:round/>
            <a:headEnd len="sm" w="sm" type="none"/>
            <a:tailEnd len="sm" w="sm" type="none"/>
          </a:ln>
        </p:spPr>
      </p:pic>
      <p:sp>
        <p:nvSpPr>
          <p:cNvPr id="173" name="Google Shape;173;p28"/>
          <p:cNvSpPr txBox="1"/>
          <p:nvPr/>
        </p:nvSpPr>
        <p:spPr>
          <a:xfrm>
            <a:off x="846650" y="1193000"/>
            <a:ext cx="2847000" cy="2277900"/>
          </a:xfrm>
          <a:prstGeom prst="rect">
            <a:avLst/>
          </a:prstGeom>
          <a:solidFill>
            <a:schemeClr val="accent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2"/>
                </a:solidFill>
                <a:latin typeface="Catamaran"/>
                <a:ea typeface="Catamaran"/>
                <a:cs typeface="Catamaran"/>
                <a:sym typeface="Catamaran"/>
              </a:rPr>
              <a:t>i</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household</a:t>
            </a:r>
            <a:r>
              <a:rPr lang="en" sz="1700">
                <a:solidFill>
                  <a:schemeClr val="lt2"/>
                </a:solidFill>
                <a:latin typeface="Catamaran Light"/>
                <a:ea typeface="Catamaran Light"/>
                <a:cs typeface="Catamaran Light"/>
                <a:sym typeface="Catamaran Light"/>
              </a:rPr>
              <a:t> index</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t</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time periods (years)</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m</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market/region</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j</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good/food name</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k</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household characteristic/demographic</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u</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unit (for goods)</a:t>
            </a:r>
            <a:endParaRPr sz="1700">
              <a:solidFill>
                <a:schemeClr val="lt2"/>
              </a:solidFill>
              <a:latin typeface="Catamaran Light"/>
              <a:ea typeface="Catamaran Light"/>
              <a:cs typeface="Catamaran Light"/>
              <a:sym typeface="Catamaran Light"/>
            </a:endParaRPr>
          </a:p>
          <a:p>
            <a:pPr indent="0" lvl="0" marL="0" rtl="0" algn="l">
              <a:spcBef>
                <a:spcPts val="0"/>
              </a:spcBef>
              <a:spcAft>
                <a:spcPts val="0"/>
              </a:spcAft>
              <a:buNone/>
            </a:pPr>
            <a:r>
              <a:rPr b="1" lang="en" sz="1700">
                <a:solidFill>
                  <a:schemeClr val="lt2"/>
                </a:solidFill>
                <a:latin typeface="Catamaran"/>
                <a:ea typeface="Catamaran"/>
                <a:cs typeface="Catamaran"/>
                <a:sym typeface="Catamaran"/>
              </a:rPr>
              <a:t>n</a:t>
            </a:r>
            <a:r>
              <a:rPr b="1" lang="en" sz="1700">
                <a:solidFill>
                  <a:schemeClr val="lt2"/>
                </a:solidFill>
                <a:latin typeface="Catamaran"/>
                <a:ea typeface="Catamaran"/>
                <a:cs typeface="Catamaran"/>
                <a:sym typeface="Catamaran"/>
              </a:rPr>
              <a:t>: </a:t>
            </a:r>
            <a:r>
              <a:rPr lang="en" sz="1700">
                <a:solidFill>
                  <a:schemeClr val="lt2"/>
                </a:solidFill>
                <a:latin typeface="Catamaran Light"/>
                <a:ea typeface="Catamaran Light"/>
                <a:cs typeface="Catamaran Light"/>
                <a:sym typeface="Catamaran Light"/>
              </a:rPr>
              <a:t>nutrients</a:t>
            </a:r>
            <a:endParaRPr sz="1700">
              <a:solidFill>
                <a:schemeClr val="lt2"/>
              </a:solidFill>
              <a:latin typeface="Catamaran Light"/>
              <a:ea typeface="Catamaran Light"/>
              <a:cs typeface="Catamaran Light"/>
              <a:sym typeface="Catamaran Light"/>
            </a:endParaRPr>
          </a:p>
        </p:txBody>
      </p:sp>
      <p:sp>
        <p:nvSpPr>
          <p:cNvPr id="174" name="Google Shape;174;p28"/>
          <p:cNvSpPr txBox="1"/>
          <p:nvPr/>
        </p:nvSpPr>
        <p:spPr>
          <a:xfrm>
            <a:off x="846775" y="3556000"/>
            <a:ext cx="2847000" cy="8043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Years:</a:t>
            </a:r>
            <a:endParaRPr b="1" sz="1200">
              <a:solidFill>
                <a:schemeClr val="dk1"/>
              </a:solidFill>
              <a:latin typeface="Catamaran"/>
              <a:ea typeface="Catamaran"/>
              <a:cs typeface="Catamaran"/>
              <a:sym typeface="Catamaran"/>
            </a:endParaRPr>
          </a:p>
          <a:p>
            <a:pPr indent="0" lvl="0" marL="0" rtl="0" algn="l">
              <a:spcBef>
                <a:spcPts val="0"/>
              </a:spcBef>
              <a:spcAft>
                <a:spcPts val="0"/>
              </a:spcAft>
              <a:buNone/>
            </a:pPr>
            <a:r>
              <a:rPr lang="en" sz="1200">
                <a:solidFill>
                  <a:schemeClr val="dk1"/>
                </a:solidFill>
                <a:latin typeface="Catamaran Light"/>
                <a:ea typeface="Catamaran Light"/>
                <a:cs typeface="Catamaran Light"/>
                <a:sym typeface="Catamaran Light"/>
              </a:rPr>
              <a:t>2005-06, 2009-10, 2010-11, 2011-12, 2013-14, 2015-16, 2018-19, 2019-20</a:t>
            </a:r>
            <a:endParaRPr sz="1200">
              <a:solidFill>
                <a:schemeClr val="dk1"/>
              </a:solidFill>
              <a:latin typeface="Catamaran Light"/>
              <a:ea typeface="Catamaran Light"/>
              <a:cs typeface="Catamaran Light"/>
              <a:sym typeface="Catamaran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pic>
        <p:nvPicPr>
          <p:cNvPr id="179" name="Google Shape;179;p29" title="Screenshot 2025-04-08 124158.png"/>
          <p:cNvPicPr preferRelativeResize="0"/>
          <p:nvPr/>
        </p:nvPicPr>
        <p:blipFill>
          <a:blip r:embed="rId3">
            <a:alphaModFix/>
          </a:blip>
          <a:stretch>
            <a:fillRect/>
          </a:stretch>
        </p:blipFill>
        <p:spPr>
          <a:xfrm>
            <a:off x="852937" y="1514674"/>
            <a:ext cx="7438126" cy="671050"/>
          </a:xfrm>
          <a:prstGeom prst="rect">
            <a:avLst/>
          </a:prstGeom>
          <a:noFill/>
          <a:ln>
            <a:noFill/>
          </a:ln>
        </p:spPr>
      </p:pic>
      <p:sp>
        <p:nvSpPr>
          <p:cNvPr id="180" name="Google Shape;180;p29"/>
          <p:cNvSpPr/>
          <p:nvPr/>
        </p:nvSpPr>
        <p:spPr>
          <a:xfrm>
            <a:off x="1755825" y="2110200"/>
            <a:ext cx="1848600" cy="5268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45D5D"/>
              </a:solidFill>
              <a:latin typeface="Catamaran Light"/>
              <a:ea typeface="Catamaran Light"/>
              <a:cs typeface="Catamaran Light"/>
              <a:sym typeface="Catamaran Light"/>
            </a:endParaRPr>
          </a:p>
        </p:txBody>
      </p:sp>
      <p:sp>
        <p:nvSpPr>
          <p:cNvPr id="181" name="Google Shape;181;p29"/>
          <p:cNvSpPr txBox="1"/>
          <p:nvPr/>
        </p:nvSpPr>
        <p:spPr>
          <a:xfrm>
            <a:off x="1791050" y="2088900"/>
            <a:ext cx="1965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4"/>
                </a:solidFill>
                <a:latin typeface="Urbanist SemiBold"/>
                <a:ea typeface="Urbanist SemiBold"/>
                <a:cs typeface="Urbanist SemiBold"/>
                <a:sym typeface="Urbanist SemiBold"/>
              </a:rPr>
              <a:t>We already have these parameters:</a:t>
            </a:r>
            <a:endParaRPr sz="800">
              <a:solidFill>
                <a:schemeClr val="accent4"/>
              </a:solidFill>
              <a:latin typeface="Urbanist SemiBold"/>
              <a:ea typeface="Urbanist SemiBold"/>
              <a:cs typeface="Urbanist SemiBold"/>
              <a:sym typeface="Urbanist SemiBold"/>
            </a:endParaRPr>
          </a:p>
          <a:p>
            <a:pPr indent="0" lvl="0" marL="0" rtl="0" algn="l">
              <a:spcBef>
                <a:spcPts val="0"/>
              </a:spcBef>
              <a:spcAft>
                <a:spcPts val="0"/>
              </a:spcAft>
              <a:buNone/>
            </a:pPr>
            <a:r>
              <a:rPr i="1" lang="en" sz="800">
                <a:solidFill>
                  <a:schemeClr val="accent4"/>
                </a:solidFill>
                <a:latin typeface="Urbanist SemiBold"/>
                <a:ea typeface="Urbanist SemiBold"/>
                <a:cs typeface="Urbanist SemiBold"/>
                <a:sym typeface="Urbanist SemiBold"/>
              </a:rPr>
              <a:t>y</a:t>
            </a:r>
            <a:r>
              <a:rPr lang="en" sz="900">
                <a:solidFill>
                  <a:schemeClr val="accent4"/>
                </a:solidFill>
                <a:latin typeface="Urbanist SemiBold"/>
                <a:ea typeface="Urbanist SemiBold"/>
                <a:cs typeface="Urbanist SemiBold"/>
                <a:sym typeface="Urbanist SemiBold"/>
              </a:rPr>
              <a:t> </a:t>
            </a:r>
            <a:r>
              <a:rPr lang="en" sz="800">
                <a:solidFill>
                  <a:schemeClr val="accent4"/>
                </a:solidFill>
                <a:latin typeface="Urbanist SemiBold"/>
                <a:ea typeface="Urbanist SemiBold"/>
                <a:cs typeface="Urbanist SemiBold"/>
                <a:sym typeface="Urbanist SemiBold"/>
              </a:rPr>
              <a:t>: log expenditures</a:t>
            </a:r>
            <a:endParaRPr sz="800">
              <a:solidFill>
                <a:schemeClr val="accent4"/>
              </a:solidFill>
              <a:latin typeface="Urbanist SemiBold"/>
              <a:ea typeface="Urbanist SemiBold"/>
              <a:cs typeface="Urbanist SemiBold"/>
              <a:sym typeface="Urbanist SemiBold"/>
            </a:endParaRPr>
          </a:p>
          <a:p>
            <a:pPr indent="0" lvl="0" marL="0" rtl="0" algn="l">
              <a:spcBef>
                <a:spcPts val="0"/>
              </a:spcBef>
              <a:spcAft>
                <a:spcPts val="0"/>
              </a:spcAft>
              <a:buNone/>
            </a:pPr>
            <a:r>
              <a:rPr i="1" lang="en" sz="800">
                <a:solidFill>
                  <a:schemeClr val="accent4"/>
                </a:solidFill>
                <a:latin typeface="Urbanist SemiBold"/>
                <a:ea typeface="Urbanist SemiBold"/>
                <a:cs typeface="Urbanist SemiBold"/>
                <a:sym typeface="Urbanist SemiBold"/>
              </a:rPr>
              <a:t>d</a:t>
            </a:r>
            <a:r>
              <a:rPr lang="en" sz="800">
                <a:solidFill>
                  <a:schemeClr val="accent4"/>
                </a:solidFill>
                <a:latin typeface="Urbanist SemiBold"/>
                <a:ea typeface="Urbanist SemiBold"/>
                <a:cs typeface="Urbanist SemiBold"/>
                <a:sym typeface="Urbanist SemiBold"/>
              </a:rPr>
              <a:t> : household characteristics</a:t>
            </a:r>
            <a:endParaRPr sz="800">
              <a:solidFill>
                <a:schemeClr val="accent4"/>
              </a:solidFill>
              <a:latin typeface="Urbanist SemiBold"/>
              <a:ea typeface="Urbanist SemiBold"/>
              <a:cs typeface="Urbanist SemiBold"/>
              <a:sym typeface="Urbanist SemiBold"/>
            </a:endParaRPr>
          </a:p>
        </p:txBody>
      </p:sp>
      <p:sp>
        <p:nvSpPr>
          <p:cNvPr id="182" name="Google Shape;182;p29"/>
          <p:cNvSpPr txBox="1"/>
          <p:nvPr>
            <p:ph type="title"/>
          </p:nvPr>
        </p:nvSpPr>
        <p:spPr>
          <a:xfrm>
            <a:off x="226275" y="152300"/>
            <a:ext cx="8537100" cy="89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UNDERSTANDING FOOD DEMAND SYSTEMS</a:t>
            </a:r>
            <a:endParaRPr sz="3000">
              <a:solidFill>
                <a:schemeClr val="accent1"/>
              </a:solidFill>
            </a:endParaRPr>
          </a:p>
        </p:txBody>
      </p:sp>
      <p:sp>
        <p:nvSpPr>
          <p:cNvPr id="183" name="Google Shape;183;p29"/>
          <p:cNvSpPr txBox="1"/>
          <p:nvPr>
            <p:ph idx="1" type="subTitle"/>
          </p:nvPr>
        </p:nvSpPr>
        <p:spPr>
          <a:xfrm flipH="1">
            <a:off x="791550" y="958875"/>
            <a:ext cx="7560900" cy="31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t>The Food Demand Climate in Uganda can be interpreted through extracting the parameters of an estimated regression:</a:t>
            </a:r>
            <a:endParaRPr i="1"/>
          </a:p>
          <a:p>
            <a:pPr indent="0" lvl="0" marL="0" rtl="0" algn="ctr">
              <a:spcBef>
                <a:spcPts val="0"/>
              </a:spcBef>
              <a:spcAft>
                <a:spcPts val="0"/>
              </a:spcAft>
              <a:buNone/>
            </a:pPr>
            <a:r>
              <a:t/>
            </a:r>
            <a:endParaRPr/>
          </a:p>
        </p:txBody>
      </p:sp>
      <p:sp>
        <p:nvSpPr>
          <p:cNvPr id="184" name="Google Shape;184;p29"/>
          <p:cNvSpPr txBox="1"/>
          <p:nvPr/>
        </p:nvSpPr>
        <p:spPr>
          <a:xfrm>
            <a:off x="316875" y="2972200"/>
            <a:ext cx="22269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Urbanist Black"/>
                <a:ea typeface="Urbanist Black"/>
                <a:cs typeface="Urbanist Black"/>
                <a:sym typeface="Urbanist Black"/>
              </a:rPr>
              <a:t>Parameters we’re estimating:</a:t>
            </a:r>
            <a:endParaRPr>
              <a:solidFill>
                <a:srgbClr val="000000"/>
              </a:solidFill>
              <a:latin typeface="Urbanist Black"/>
              <a:ea typeface="Urbanist Black"/>
              <a:cs typeface="Urbanist Black"/>
              <a:sym typeface="Urbanist Black"/>
            </a:endParaRPr>
          </a:p>
        </p:txBody>
      </p:sp>
      <p:sp>
        <p:nvSpPr>
          <p:cNvPr id="185" name="Google Shape;185;p29"/>
          <p:cNvSpPr txBox="1"/>
          <p:nvPr/>
        </p:nvSpPr>
        <p:spPr>
          <a:xfrm>
            <a:off x="316875" y="4063177"/>
            <a:ext cx="2226900" cy="56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Urbanist Black"/>
                <a:ea typeface="Urbanist Black"/>
                <a:cs typeface="Urbanist Black"/>
                <a:sym typeface="Urbanist Black"/>
              </a:rPr>
              <a:t>I</a:t>
            </a:r>
            <a:r>
              <a:rPr lang="en">
                <a:solidFill>
                  <a:srgbClr val="000000"/>
                </a:solidFill>
                <a:latin typeface="Urbanist Black"/>
                <a:ea typeface="Urbanist Black"/>
                <a:cs typeface="Urbanist Black"/>
                <a:sym typeface="Urbanist Black"/>
              </a:rPr>
              <a:t>nterpret</a:t>
            </a:r>
            <a:r>
              <a:rPr lang="en">
                <a:latin typeface="Urbanist Black"/>
                <a:ea typeface="Urbanist Black"/>
                <a:cs typeface="Urbanist Black"/>
                <a:sym typeface="Urbanist Black"/>
              </a:rPr>
              <a:t>ation </a:t>
            </a:r>
            <a:r>
              <a:rPr lang="en">
                <a:solidFill>
                  <a:srgbClr val="000000"/>
                </a:solidFill>
                <a:latin typeface="Urbanist Black"/>
                <a:ea typeface="Urbanist Black"/>
                <a:cs typeface="Urbanist Black"/>
                <a:sym typeface="Urbanist Black"/>
              </a:rPr>
              <a:t>of </a:t>
            </a:r>
            <a:r>
              <a:rPr lang="en">
                <a:latin typeface="Urbanist Black"/>
                <a:ea typeface="Urbanist Black"/>
                <a:cs typeface="Urbanist Black"/>
                <a:sym typeface="Urbanist Black"/>
              </a:rPr>
              <a:t>demand system </a:t>
            </a:r>
            <a:r>
              <a:rPr lang="en">
                <a:solidFill>
                  <a:srgbClr val="000000"/>
                </a:solidFill>
                <a:latin typeface="Urbanist Black"/>
                <a:ea typeface="Urbanist Black"/>
                <a:cs typeface="Urbanist Black"/>
                <a:sym typeface="Urbanist Black"/>
              </a:rPr>
              <a:t>through:</a:t>
            </a:r>
            <a:endParaRPr>
              <a:solidFill>
                <a:srgbClr val="000000"/>
              </a:solidFill>
              <a:latin typeface="Urbanist Black"/>
              <a:ea typeface="Urbanist Black"/>
              <a:cs typeface="Urbanist Black"/>
              <a:sym typeface="Urbanist Black"/>
            </a:endParaRPr>
          </a:p>
        </p:txBody>
      </p:sp>
      <p:pic>
        <p:nvPicPr>
          <p:cNvPr id="186" name="Google Shape;186;p29" title="Screenshot 2025-04-08 125002.png"/>
          <p:cNvPicPr preferRelativeResize="0"/>
          <p:nvPr/>
        </p:nvPicPr>
        <p:blipFill>
          <a:blip r:embed="rId4">
            <a:alphaModFix/>
          </a:blip>
          <a:stretch>
            <a:fillRect/>
          </a:stretch>
        </p:blipFill>
        <p:spPr>
          <a:xfrm>
            <a:off x="2725125" y="2972200"/>
            <a:ext cx="5921449" cy="784800"/>
          </a:xfrm>
          <a:prstGeom prst="rect">
            <a:avLst/>
          </a:prstGeom>
          <a:noFill/>
          <a:ln>
            <a:noFill/>
          </a:ln>
        </p:spPr>
      </p:pic>
      <p:pic>
        <p:nvPicPr>
          <p:cNvPr id="187" name="Google Shape;187;p29" title="Screenshot 2025-04-08 130148.png"/>
          <p:cNvPicPr preferRelativeResize="0"/>
          <p:nvPr/>
        </p:nvPicPr>
        <p:blipFill>
          <a:blip r:embed="rId5">
            <a:alphaModFix/>
          </a:blip>
          <a:stretch>
            <a:fillRect/>
          </a:stretch>
        </p:blipFill>
        <p:spPr>
          <a:xfrm>
            <a:off x="2725125" y="4063175"/>
            <a:ext cx="5032449" cy="729400"/>
          </a:xfrm>
          <a:prstGeom prst="rect">
            <a:avLst/>
          </a:prstGeom>
          <a:noFill/>
          <a:ln>
            <a:noFill/>
          </a:ln>
        </p:spPr>
      </p:pic>
      <p:cxnSp>
        <p:nvCxnSpPr>
          <p:cNvPr id="188" name="Google Shape;188;p29"/>
          <p:cNvCxnSpPr/>
          <p:nvPr/>
        </p:nvCxnSpPr>
        <p:spPr>
          <a:xfrm flipH="1" rot="10800000">
            <a:off x="4208575" y="2089325"/>
            <a:ext cx="132600" cy="2700"/>
          </a:xfrm>
          <a:prstGeom prst="straightConnector1">
            <a:avLst/>
          </a:prstGeom>
          <a:noFill/>
          <a:ln cap="flat" cmpd="sng" w="19050">
            <a:solidFill>
              <a:schemeClr val="accent4"/>
            </a:solidFill>
            <a:prstDash val="solid"/>
            <a:round/>
            <a:headEnd len="med" w="med" type="none"/>
            <a:tailEnd len="med" w="med" type="none"/>
          </a:ln>
        </p:spPr>
      </p:cxnSp>
      <p:cxnSp>
        <p:nvCxnSpPr>
          <p:cNvPr id="189" name="Google Shape;189;p29"/>
          <p:cNvCxnSpPr/>
          <p:nvPr/>
        </p:nvCxnSpPr>
        <p:spPr>
          <a:xfrm flipH="1" rot="10800000">
            <a:off x="5244775" y="2089325"/>
            <a:ext cx="132600" cy="2700"/>
          </a:xfrm>
          <a:prstGeom prst="straightConnector1">
            <a:avLst/>
          </a:prstGeom>
          <a:noFill/>
          <a:ln cap="flat" cmpd="sng" w="19050">
            <a:solidFill>
              <a:schemeClr val="accent4"/>
            </a:solidFill>
            <a:prstDash val="solid"/>
            <a:round/>
            <a:headEnd len="med" w="med" type="none"/>
            <a:tailEnd len="med" w="med" type="none"/>
          </a:ln>
        </p:spPr>
      </p:cxnSp>
      <p:cxnSp>
        <p:nvCxnSpPr>
          <p:cNvPr id="190" name="Google Shape;190;p29"/>
          <p:cNvCxnSpPr/>
          <p:nvPr/>
        </p:nvCxnSpPr>
        <p:spPr>
          <a:xfrm>
            <a:off x="3647000" y="2373600"/>
            <a:ext cx="1675800" cy="0"/>
          </a:xfrm>
          <a:prstGeom prst="straightConnector1">
            <a:avLst/>
          </a:prstGeom>
          <a:noFill/>
          <a:ln cap="flat" cmpd="sng" w="9525">
            <a:solidFill>
              <a:schemeClr val="accent4"/>
            </a:solidFill>
            <a:prstDash val="solid"/>
            <a:round/>
            <a:headEnd len="med" w="med" type="none"/>
            <a:tailEnd len="med" w="med" type="none"/>
          </a:ln>
        </p:spPr>
      </p:cxnSp>
      <p:cxnSp>
        <p:nvCxnSpPr>
          <p:cNvPr id="191" name="Google Shape;191;p29"/>
          <p:cNvCxnSpPr/>
          <p:nvPr/>
        </p:nvCxnSpPr>
        <p:spPr>
          <a:xfrm rot="10800000">
            <a:off x="5317700" y="2149500"/>
            <a:ext cx="0" cy="224100"/>
          </a:xfrm>
          <a:prstGeom prst="straightConnector1">
            <a:avLst/>
          </a:prstGeom>
          <a:noFill/>
          <a:ln cap="flat" cmpd="sng" w="9525">
            <a:solidFill>
              <a:schemeClr val="accent4"/>
            </a:solidFill>
            <a:prstDash val="solid"/>
            <a:round/>
            <a:headEnd len="med" w="med" type="none"/>
            <a:tailEnd len="med" w="med" type="none"/>
          </a:ln>
        </p:spPr>
      </p:cxnSp>
      <p:cxnSp>
        <p:nvCxnSpPr>
          <p:cNvPr id="192" name="Google Shape;192;p29"/>
          <p:cNvCxnSpPr/>
          <p:nvPr/>
        </p:nvCxnSpPr>
        <p:spPr>
          <a:xfrm rot="10800000">
            <a:off x="4274875" y="2149500"/>
            <a:ext cx="0" cy="224100"/>
          </a:xfrm>
          <a:prstGeom prst="straightConnector1">
            <a:avLst/>
          </a:prstGeom>
          <a:noFill/>
          <a:ln cap="flat" cmpd="sng" w="9525">
            <a:solidFill>
              <a:schemeClr val="accent4"/>
            </a:solidFill>
            <a:prstDash val="solid"/>
            <a:round/>
            <a:headEnd len="med" w="med" type="none"/>
            <a:tailEnd len="med" w="med" type="none"/>
          </a:ln>
        </p:spPr>
      </p:cxnSp>
      <p:sp>
        <p:nvSpPr>
          <p:cNvPr id="193" name="Google Shape;193;p29"/>
          <p:cNvSpPr/>
          <p:nvPr/>
        </p:nvSpPr>
        <p:spPr>
          <a:xfrm>
            <a:off x="316875" y="2905375"/>
            <a:ext cx="8537100" cy="8883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194" name="Google Shape;194;p29"/>
          <p:cNvSpPr/>
          <p:nvPr/>
        </p:nvSpPr>
        <p:spPr>
          <a:xfrm>
            <a:off x="317025" y="3957200"/>
            <a:ext cx="8537100" cy="8883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8" name="Shape 198"/>
        <p:cNvGrpSpPr/>
        <p:nvPr/>
      </p:nvGrpSpPr>
      <p:grpSpPr>
        <a:xfrm>
          <a:off x="0" y="0"/>
          <a:ext cx="0" cy="0"/>
          <a:chOff x="0" y="0"/>
          <a:chExt cx="0" cy="0"/>
        </a:xfrm>
      </p:grpSpPr>
      <p:sp>
        <p:nvSpPr>
          <p:cNvPr id="199" name="Google Shape;199;p30"/>
          <p:cNvSpPr txBox="1"/>
          <p:nvPr/>
        </p:nvSpPr>
        <p:spPr>
          <a:xfrm>
            <a:off x="0" y="236850"/>
            <a:ext cx="8798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DEMAND AND PRICES </a:t>
            </a:r>
            <a:endParaRPr b="1" sz="3000">
              <a:solidFill>
                <a:schemeClr val="accent1"/>
              </a:solidFill>
              <a:latin typeface="Livvic"/>
              <a:ea typeface="Livvic"/>
              <a:cs typeface="Livvic"/>
              <a:sym typeface="Livvic"/>
            </a:endParaRPr>
          </a:p>
        </p:txBody>
      </p:sp>
      <p:pic>
        <p:nvPicPr>
          <p:cNvPr id="200" name="Google Shape;200;p30"/>
          <p:cNvPicPr preferRelativeResize="0"/>
          <p:nvPr/>
        </p:nvPicPr>
        <p:blipFill>
          <a:blip r:embed="rId3">
            <a:alphaModFix/>
          </a:blip>
          <a:stretch>
            <a:fillRect/>
          </a:stretch>
        </p:blipFill>
        <p:spPr>
          <a:xfrm>
            <a:off x="457700" y="1268606"/>
            <a:ext cx="4056234" cy="2806894"/>
          </a:xfrm>
          <a:prstGeom prst="rect">
            <a:avLst/>
          </a:prstGeom>
          <a:noFill/>
          <a:ln>
            <a:noFill/>
          </a:ln>
        </p:spPr>
      </p:pic>
      <p:sp>
        <p:nvSpPr>
          <p:cNvPr id="201" name="Google Shape;201;p30"/>
          <p:cNvSpPr txBox="1"/>
          <p:nvPr/>
        </p:nvSpPr>
        <p:spPr>
          <a:xfrm>
            <a:off x="2031228" y="913400"/>
            <a:ext cx="1581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Dry: 2005-2006</a:t>
            </a:r>
            <a:endParaRPr b="1" sz="1200">
              <a:solidFill>
                <a:schemeClr val="dk1"/>
              </a:solidFill>
              <a:latin typeface="Catamaran"/>
              <a:ea typeface="Catamaran"/>
              <a:cs typeface="Catamaran"/>
              <a:sym typeface="Catamaran"/>
            </a:endParaRPr>
          </a:p>
        </p:txBody>
      </p:sp>
      <p:sp>
        <p:nvSpPr>
          <p:cNvPr id="202" name="Google Shape;202;p30"/>
          <p:cNvSpPr txBox="1"/>
          <p:nvPr/>
        </p:nvSpPr>
        <p:spPr>
          <a:xfrm>
            <a:off x="6301138" y="913400"/>
            <a:ext cx="16467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Wet: 2018-2019</a:t>
            </a:r>
            <a:endParaRPr b="1" sz="1200">
              <a:solidFill>
                <a:schemeClr val="dk1"/>
              </a:solidFill>
              <a:latin typeface="Catamaran"/>
              <a:ea typeface="Catamaran"/>
              <a:cs typeface="Catamaran"/>
              <a:sym typeface="Catamaran"/>
            </a:endParaRPr>
          </a:p>
        </p:txBody>
      </p:sp>
      <p:pic>
        <p:nvPicPr>
          <p:cNvPr id="203" name="Google Shape;203;p30"/>
          <p:cNvPicPr preferRelativeResize="0"/>
          <p:nvPr/>
        </p:nvPicPr>
        <p:blipFill>
          <a:blip r:embed="rId4">
            <a:alphaModFix/>
          </a:blip>
          <a:stretch>
            <a:fillRect/>
          </a:stretch>
        </p:blipFill>
        <p:spPr>
          <a:xfrm>
            <a:off x="4662804" y="1268606"/>
            <a:ext cx="4056271" cy="2806894"/>
          </a:xfrm>
          <a:prstGeom prst="rect">
            <a:avLst/>
          </a:prstGeom>
          <a:noFill/>
          <a:ln>
            <a:noFill/>
          </a:ln>
        </p:spPr>
      </p:pic>
      <p:sp>
        <p:nvSpPr>
          <p:cNvPr id="204" name="Google Shape;204;p30"/>
          <p:cNvSpPr txBox="1"/>
          <p:nvPr/>
        </p:nvSpPr>
        <p:spPr>
          <a:xfrm>
            <a:off x="547063" y="4203925"/>
            <a:ext cx="81720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Livvic"/>
                <a:ea typeface="Livvic"/>
                <a:cs typeface="Livvic"/>
                <a:sym typeface="Livvic"/>
              </a:rPr>
              <a:t>Things to note: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Price-demand relationship is similar in both dry and wet years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2018-2019 wet year: smaller range in quantities demanded and steeper slope of curves </a:t>
            </a:r>
            <a:endParaRPr b="1">
              <a:solidFill>
                <a:schemeClr val="dk1"/>
              </a:solidFill>
              <a:latin typeface="Livvic"/>
              <a:ea typeface="Livvic"/>
              <a:cs typeface="Livvic"/>
              <a:sym typeface="Livv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08" name="Shape 208"/>
        <p:cNvGrpSpPr/>
        <p:nvPr/>
      </p:nvGrpSpPr>
      <p:grpSpPr>
        <a:xfrm>
          <a:off x="0" y="0"/>
          <a:ext cx="0" cy="0"/>
          <a:chOff x="0" y="0"/>
          <a:chExt cx="0" cy="0"/>
        </a:xfrm>
      </p:grpSpPr>
      <p:pic>
        <p:nvPicPr>
          <p:cNvPr id="209" name="Google Shape;209;p31"/>
          <p:cNvPicPr preferRelativeResize="0"/>
          <p:nvPr/>
        </p:nvPicPr>
        <p:blipFill>
          <a:blip r:embed="rId3">
            <a:alphaModFix/>
          </a:blip>
          <a:stretch>
            <a:fillRect/>
          </a:stretch>
        </p:blipFill>
        <p:spPr>
          <a:xfrm>
            <a:off x="418000" y="1169600"/>
            <a:ext cx="4091226" cy="2440675"/>
          </a:xfrm>
          <a:prstGeom prst="rect">
            <a:avLst/>
          </a:prstGeom>
          <a:noFill/>
          <a:ln>
            <a:noFill/>
          </a:ln>
        </p:spPr>
      </p:pic>
      <p:sp>
        <p:nvSpPr>
          <p:cNvPr id="210" name="Google Shape;210;p31"/>
          <p:cNvSpPr txBox="1"/>
          <p:nvPr/>
        </p:nvSpPr>
        <p:spPr>
          <a:xfrm>
            <a:off x="0" y="185800"/>
            <a:ext cx="893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ENGEL CURVES</a:t>
            </a:r>
            <a:endParaRPr b="1" sz="3000">
              <a:solidFill>
                <a:schemeClr val="accent1"/>
              </a:solidFill>
              <a:latin typeface="Livvic"/>
              <a:ea typeface="Livvic"/>
              <a:cs typeface="Livvic"/>
              <a:sym typeface="Livvic"/>
            </a:endParaRPr>
          </a:p>
        </p:txBody>
      </p:sp>
      <p:sp>
        <p:nvSpPr>
          <p:cNvPr id="211" name="Google Shape;211;p31"/>
          <p:cNvSpPr txBox="1"/>
          <p:nvPr/>
        </p:nvSpPr>
        <p:spPr>
          <a:xfrm>
            <a:off x="1511575" y="751100"/>
            <a:ext cx="1278000" cy="4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Dry: </a:t>
            </a:r>
            <a:r>
              <a:rPr b="1" lang="en" sz="1200">
                <a:solidFill>
                  <a:schemeClr val="dk1"/>
                </a:solidFill>
                <a:latin typeface="Catamaran"/>
                <a:ea typeface="Catamaran"/>
                <a:cs typeface="Catamaran"/>
                <a:sym typeface="Catamaran"/>
              </a:rPr>
              <a:t>2005-2006</a:t>
            </a:r>
            <a:endParaRPr b="1" sz="1200">
              <a:solidFill>
                <a:schemeClr val="dk1"/>
              </a:solidFill>
              <a:latin typeface="Catamaran"/>
              <a:ea typeface="Catamaran"/>
              <a:cs typeface="Catamaran"/>
              <a:sym typeface="Catamaran"/>
            </a:endParaRPr>
          </a:p>
        </p:txBody>
      </p:sp>
      <p:sp>
        <p:nvSpPr>
          <p:cNvPr id="212" name="Google Shape;212;p31"/>
          <p:cNvSpPr txBox="1"/>
          <p:nvPr/>
        </p:nvSpPr>
        <p:spPr>
          <a:xfrm>
            <a:off x="5800175" y="751100"/>
            <a:ext cx="1278000" cy="4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Wet: </a:t>
            </a:r>
            <a:r>
              <a:rPr b="1" lang="en" sz="1200">
                <a:solidFill>
                  <a:schemeClr val="dk1"/>
                </a:solidFill>
                <a:latin typeface="Catamaran"/>
                <a:ea typeface="Catamaran"/>
                <a:cs typeface="Catamaran"/>
                <a:sym typeface="Catamaran"/>
              </a:rPr>
              <a:t>2018-2019</a:t>
            </a:r>
            <a:endParaRPr b="1" sz="1200">
              <a:solidFill>
                <a:schemeClr val="dk1"/>
              </a:solidFill>
              <a:latin typeface="Catamaran"/>
              <a:ea typeface="Catamaran"/>
              <a:cs typeface="Catamaran"/>
              <a:sym typeface="Catamaran"/>
            </a:endParaRPr>
          </a:p>
        </p:txBody>
      </p:sp>
      <p:pic>
        <p:nvPicPr>
          <p:cNvPr id="213" name="Google Shape;213;p31"/>
          <p:cNvPicPr preferRelativeResize="0"/>
          <p:nvPr/>
        </p:nvPicPr>
        <p:blipFill>
          <a:blip r:embed="rId4">
            <a:alphaModFix/>
          </a:blip>
          <a:stretch>
            <a:fillRect/>
          </a:stretch>
        </p:blipFill>
        <p:spPr>
          <a:xfrm>
            <a:off x="4661626" y="1098388"/>
            <a:ext cx="4329976" cy="2583100"/>
          </a:xfrm>
          <a:prstGeom prst="rect">
            <a:avLst/>
          </a:prstGeom>
          <a:noFill/>
          <a:ln>
            <a:noFill/>
          </a:ln>
        </p:spPr>
      </p:pic>
      <p:sp>
        <p:nvSpPr>
          <p:cNvPr id="214" name="Google Shape;214;p31"/>
          <p:cNvSpPr txBox="1"/>
          <p:nvPr/>
        </p:nvSpPr>
        <p:spPr>
          <a:xfrm>
            <a:off x="346200" y="3681475"/>
            <a:ext cx="8645400" cy="11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Livvic"/>
                <a:ea typeface="Livvic"/>
                <a:cs typeface="Livvic"/>
                <a:sym typeface="Livvic"/>
              </a:rPr>
              <a:t>Things to note: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Engel</a:t>
            </a:r>
            <a:r>
              <a:rPr b="1" lang="en">
                <a:solidFill>
                  <a:schemeClr val="dk1"/>
                </a:solidFill>
                <a:latin typeface="Livvic"/>
                <a:ea typeface="Livvic"/>
                <a:cs typeface="Livvic"/>
                <a:sym typeface="Livvic"/>
              </a:rPr>
              <a:t> curves illustrate how households allocate their budget shares to specific goods based on income changes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Wet year:  lower expenditure shares→ better agricultural yields or increased food diversity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Rightward </a:t>
            </a:r>
            <a:r>
              <a:rPr b="1" lang="en">
                <a:solidFill>
                  <a:schemeClr val="dk1"/>
                </a:solidFill>
                <a:latin typeface="Livvic"/>
                <a:ea typeface="Livvic"/>
                <a:cs typeface="Livvic"/>
                <a:sym typeface="Livvic"/>
              </a:rPr>
              <a:t>shift in budget range suggest income growth over time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Dry cassava reflects a “climate-responsive” staple</a:t>
            </a:r>
            <a:endParaRPr b="1">
              <a:solidFill>
                <a:schemeClr val="dk1"/>
              </a:solidFill>
              <a:latin typeface="Livvic"/>
              <a:ea typeface="Livvic"/>
              <a:cs typeface="Livvic"/>
              <a:sym typeface="Livv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18" name="Shape 218"/>
        <p:cNvGrpSpPr/>
        <p:nvPr/>
      </p:nvGrpSpPr>
      <p:grpSpPr>
        <a:xfrm>
          <a:off x="0" y="0"/>
          <a:ext cx="0" cy="0"/>
          <a:chOff x="0" y="0"/>
          <a:chExt cx="0" cy="0"/>
        </a:xfrm>
      </p:grpSpPr>
      <p:sp>
        <p:nvSpPr>
          <p:cNvPr id="219" name="Google Shape;219;p32"/>
          <p:cNvSpPr txBox="1"/>
          <p:nvPr/>
        </p:nvSpPr>
        <p:spPr>
          <a:xfrm>
            <a:off x="0" y="334800"/>
            <a:ext cx="893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INDIRECT UTILITY FUNCTION </a:t>
            </a:r>
            <a:endParaRPr b="1" sz="3000">
              <a:solidFill>
                <a:schemeClr val="accent1"/>
              </a:solidFill>
              <a:latin typeface="Livvic"/>
              <a:ea typeface="Livvic"/>
              <a:cs typeface="Livvic"/>
              <a:sym typeface="Livvic"/>
            </a:endParaRPr>
          </a:p>
        </p:txBody>
      </p:sp>
      <p:sp>
        <p:nvSpPr>
          <p:cNvPr id="220" name="Google Shape;220;p32"/>
          <p:cNvSpPr txBox="1"/>
          <p:nvPr/>
        </p:nvSpPr>
        <p:spPr>
          <a:xfrm>
            <a:off x="2195665" y="1057263"/>
            <a:ext cx="15261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Dry: </a:t>
            </a:r>
            <a:r>
              <a:rPr b="1" lang="en" sz="1200">
                <a:solidFill>
                  <a:schemeClr val="dk1"/>
                </a:solidFill>
                <a:latin typeface="Catamaran"/>
                <a:ea typeface="Catamaran"/>
                <a:cs typeface="Catamaran"/>
                <a:sym typeface="Catamaran"/>
              </a:rPr>
              <a:t>2005-2006</a:t>
            </a:r>
            <a:endParaRPr b="1" sz="1200">
              <a:solidFill>
                <a:schemeClr val="dk1"/>
              </a:solidFill>
              <a:latin typeface="Catamaran"/>
              <a:ea typeface="Catamaran"/>
              <a:cs typeface="Catamaran"/>
              <a:sym typeface="Catamaran"/>
            </a:endParaRPr>
          </a:p>
        </p:txBody>
      </p:sp>
      <p:sp>
        <p:nvSpPr>
          <p:cNvPr id="221" name="Google Shape;221;p32"/>
          <p:cNvSpPr txBox="1"/>
          <p:nvPr/>
        </p:nvSpPr>
        <p:spPr>
          <a:xfrm>
            <a:off x="6056535" y="1057263"/>
            <a:ext cx="15261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tamaran"/>
                <a:ea typeface="Catamaran"/>
                <a:cs typeface="Catamaran"/>
                <a:sym typeface="Catamaran"/>
              </a:rPr>
              <a:t>Wet: </a:t>
            </a:r>
            <a:r>
              <a:rPr b="1" lang="en" sz="1200">
                <a:solidFill>
                  <a:schemeClr val="dk1"/>
                </a:solidFill>
                <a:latin typeface="Catamaran"/>
                <a:ea typeface="Catamaran"/>
                <a:cs typeface="Catamaran"/>
                <a:sym typeface="Catamaran"/>
              </a:rPr>
              <a:t>2018-2019</a:t>
            </a:r>
            <a:endParaRPr b="1" sz="1200">
              <a:solidFill>
                <a:schemeClr val="dk1"/>
              </a:solidFill>
              <a:latin typeface="Catamaran"/>
              <a:ea typeface="Catamaran"/>
              <a:cs typeface="Catamaran"/>
              <a:sym typeface="Catamaran"/>
            </a:endParaRPr>
          </a:p>
        </p:txBody>
      </p:sp>
      <p:pic>
        <p:nvPicPr>
          <p:cNvPr id="222" name="Google Shape;222;p32"/>
          <p:cNvPicPr preferRelativeResize="0"/>
          <p:nvPr/>
        </p:nvPicPr>
        <p:blipFill>
          <a:blip r:embed="rId3">
            <a:alphaModFix/>
          </a:blip>
          <a:stretch>
            <a:fillRect/>
          </a:stretch>
        </p:blipFill>
        <p:spPr>
          <a:xfrm>
            <a:off x="841688" y="1429085"/>
            <a:ext cx="3467719" cy="2122665"/>
          </a:xfrm>
          <a:prstGeom prst="rect">
            <a:avLst/>
          </a:prstGeom>
          <a:noFill/>
          <a:ln>
            <a:noFill/>
          </a:ln>
        </p:spPr>
      </p:pic>
      <p:pic>
        <p:nvPicPr>
          <p:cNvPr id="223" name="Google Shape;223;p32"/>
          <p:cNvPicPr preferRelativeResize="0"/>
          <p:nvPr/>
        </p:nvPicPr>
        <p:blipFill>
          <a:blip r:embed="rId4">
            <a:alphaModFix/>
          </a:blip>
          <a:stretch>
            <a:fillRect/>
          </a:stretch>
        </p:blipFill>
        <p:spPr>
          <a:xfrm>
            <a:off x="4550498" y="1394989"/>
            <a:ext cx="3542714" cy="2122656"/>
          </a:xfrm>
          <a:prstGeom prst="rect">
            <a:avLst/>
          </a:prstGeom>
          <a:noFill/>
          <a:ln>
            <a:noFill/>
          </a:ln>
        </p:spPr>
      </p:pic>
      <p:sp>
        <p:nvSpPr>
          <p:cNvPr id="224" name="Google Shape;224;p32"/>
          <p:cNvSpPr txBox="1"/>
          <p:nvPr/>
        </p:nvSpPr>
        <p:spPr>
          <a:xfrm>
            <a:off x="513904" y="3627725"/>
            <a:ext cx="8421000" cy="13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Livvic"/>
                <a:ea typeface="Livvic"/>
                <a:cs typeface="Livvic"/>
                <a:sym typeface="Livvic"/>
              </a:rPr>
              <a:t>Things to note: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Indirect utility functions map household budget levels to corresponding utility levels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Budget range increased from 2005-2006 to 2018-2019: economic growth &amp; expanded </a:t>
            </a:r>
            <a:r>
              <a:rPr b="1" lang="en">
                <a:solidFill>
                  <a:schemeClr val="dk1"/>
                </a:solidFill>
                <a:latin typeface="Livvic"/>
                <a:ea typeface="Livvic"/>
                <a:cs typeface="Livvic"/>
                <a:sym typeface="Livvic"/>
              </a:rPr>
              <a:t>income possibilities </a:t>
            </a:r>
            <a:endParaRPr b="1">
              <a:solidFill>
                <a:schemeClr val="dk1"/>
              </a:solidFill>
              <a:latin typeface="Livvic"/>
              <a:ea typeface="Livvic"/>
              <a:cs typeface="Livvic"/>
              <a:sym typeface="Livvic"/>
            </a:endParaRPr>
          </a:p>
          <a:p>
            <a:pPr indent="-317500" lvl="0" marL="457200" rtl="0" algn="l">
              <a:spcBef>
                <a:spcPts val="0"/>
              </a:spcBef>
              <a:spcAft>
                <a:spcPts val="0"/>
              </a:spcAft>
              <a:buClr>
                <a:schemeClr val="dk1"/>
              </a:buClr>
              <a:buSzPts val="1400"/>
              <a:buFont typeface="Livvic"/>
              <a:buChar char="●"/>
            </a:pPr>
            <a:r>
              <a:rPr b="1" lang="en">
                <a:solidFill>
                  <a:schemeClr val="dk1"/>
                </a:solidFill>
                <a:latin typeface="Livvic"/>
                <a:ea typeface="Livvic"/>
                <a:cs typeface="Livvic"/>
                <a:sym typeface="Livvic"/>
              </a:rPr>
              <a:t>Wider utility range in 2018-2019: deeper potential welfare losses at low incomes &amp; slightly higher potential welfare gains at high income</a:t>
            </a:r>
            <a:endParaRPr b="1">
              <a:solidFill>
                <a:schemeClr val="dk1"/>
              </a:solidFill>
              <a:latin typeface="Livvic"/>
              <a:ea typeface="Livvic"/>
              <a:cs typeface="Livvic"/>
              <a:sym typeface="Livv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8" name="Shape 228"/>
        <p:cNvGrpSpPr/>
        <p:nvPr/>
      </p:nvGrpSpPr>
      <p:grpSpPr>
        <a:xfrm>
          <a:off x="0" y="0"/>
          <a:ext cx="0" cy="0"/>
          <a:chOff x="0" y="0"/>
          <a:chExt cx="0" cy="0"/>
        </a:xfrm>
      </p:grpSpPr>
      <p:sp>
        <p:nvSpPr>
          <p:cNvPr id="229" name="Google Shape;229;p33"/>
          <p:cNvSpPr txBox="1"/>
          <p:nvPr>
            <p:ph type="ctrTitle"/>
          </p:nvPr>
        </p:nvSpPr>
        <p:spPr>
          <a:xfrm>
            <a:off x="575400" y="595575"/>
            <a:ext cx="6091800" cy="2054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3000">
                <a:solidFill>
                  <a:schemeClr val="lt1"/>
                </a:solidFill>
              </a:rPr>
              <a:t>CONSUMPTION, EXPENDITURE , AND NUTRITIONAL ADEQUACY </a:t>
            </a:r>
            <a:endParaRPr sz="3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33" name="Shape 233"/>
        <p:cNvGrpSpPr/>
        <p:nvPr/>
      </p:nvGrpSpPr>
      <p:grpSpPr>
        <a:xfrm>
          <a:off x="0" y="0"/>
          <a:ext cx="0" cy="0"/>
          <a:chOff x="0" y="0"/>
          <a:chExt cx="0" cy="0"/>
        </a:xfrm>
      </p:grpSpPr>
      <p:pic>
        <p:nvPicPr>
          <p:cNvPr id="234" name="Google Shape;234;p34"/>
          <p:cNvPicPr preferRelativeResize="0"/>
          <p:nvPr/>
        </p:nvPicPr>
        <p:blipFill>
          <a:blip r:embed="rId3">
            <a:alphaModFix/>
          </a:blip>
          <a:stretch>
            <a:fillRect/>
          </a:stretch>
        </p:blipFill>
        <p:spPr>
          <a:xfrm>
            <a:off x="1893650" y="1125176"/>
            <a:ext cx="5783550" cy="3855692"/>
          </a:xfrm>
          <a:prstGeom prst="rect">
            <a:avLst/>
          </a:prstGeom>
          <a:noFill/>
          <a:ln>
            <a:noFill/>
          </a:ln>
        </p:spPr>
      </p:pic>
      <p:sp>
        <p:nvSpPr>
          <p:cNvPr id="235" name="Google Shape;235;p34"/>
          <p:cNvSpPr txBox="1"/>
          <p:nvPr/>
        </p:nvSpPr>
        <p:spPr>
          <a:xfrm>
            <a:off x="484200" y="196200"/>
            <a:ext cx="8175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TOP 10 MOST CONSUMED FOODS </a:t>
            </a:r>
            <a:endParaRPr b="1" sz="3000">
              <a:solidFill>
                <a:schemeClr val="accent1"/>
              </a:solidFill>
              <a:latin typeface="Livvic"/>
              <a:ea typeface="Livvic"/>
              <a:cs typeface="Livvic"/>
              <a:sym typeface="Livv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5"/>
          <p:cNvSpPr txBox="1"/>
          <p:nvPr>
            <p:ph type="ctrTitle"/>
          </p:nvPr>
        </p:nvSpPr>
        <p:spPr>
          <a:xfrm>
            <a:off x="1968752" y="237800"/>
            <a:ext cx="5206500" cy="48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FOOD PRICES </a:t>
            </a:r>
            <a:endParaRPr sz="3000">
              <a:solidFill>
                <a:schemeClr val="accent1"/>
              </a:solidFill>
            </a:endParaRPr>
          </a:p>
        </p:txBody>
      </p:sp>
      <p:pic>
        <p:nvPicPr>
          <p:cNvPr id="241" name="Google Shape;241;p35" title="Screenshot 2025-04-08 141955.png"/>
          <p:cNvPicPr preferRelativeResize="0"/>
          <p:nvPr/>
        </p:nvPicPr>
        <p:blipFill>
          <a:blip r:embed="rId3">
            <a:alphaModFix/>
          </a:blip>
          <a:stretch>
            <a:fillRect/>
          </a:stretch>
        </p:blipFill>
        <p:spPr>
          <a:xfrm>
            <a:off x="1778350" y="1050825"/>
            <a:ext cx="5587293" cy="37683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p:nvPr/>
        </p:nvSpPr>
        <p:spPr>
          <a:xfrm>
            <a:off x="0" y="0"/>
            <a:ext cx="3607500" cy="26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6"/>
          <p:cNvSpPr/>
          <p:nvPr/>
        </p:nvSpPr>
        <p:spPr>
          <a:xfrm>
            <a:off x="3607473" y="2632200"/>
            <a:ext cx="3607500" cy="2511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6"/>
          <p:cNvSpPr txBox="1"/>
          <p:nvPr/>
        </p:nvSpPr>
        <p:spPr>
          <a:xfrm>
            <a:off x="1263193" y="297825"/>
            <a:ext cx="6265200" cy="50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EXPENDITURE PATTERNS</a:t>
            </a:r>
            <a:endParaRPr b="1" sz="3000">
              <a:solidFill>
                <a:schemeClr val="accent1"/>
              </a:solidFill>
              <a:latin typeface="Livvic"/>
              <a:ea typeface="Livvic"/>
              <a:cs typeface="Livvic"/>
              <a:sym typeface="Livvic"/>
            </a:endParaRPr>
          </a:p>
        </p:txBody>
      </p:sp>
      <p:pic>
        <p:nvPicPr>
          <p:cNvPr id="249" name="Google Shape;249;p36"/>
          <p:cNvPicPr preferRelativeResize="0"/>
          <p:nvPr/>
        </p:nvPicPr>
        <p:blipFill>
          <a:blip r:embed="rId3">
            <a:alphaModFix/>
          </a:blip>
          <a:stretch>
            <a:fillRect/>
          </a:stretch>
        </p:blipFill>
        <p:spPr>
          <a:xfrm>
            <a:off x="1866750" y="1409175"/>
            <a:ext cx="6265198" cy="2700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p:nvPr/>
        </p:nvSpPr>
        <p:spPr>
          <a:xfrm>
            <a:off x="3607473" y="2632200"/>
            <a:ext cx="3607500" cy="2511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7"/>
          <p:cNvSpPr txBox="1"/>
          <p:nvPr/>
        </p:nvSpPr>
        <p:spPr>
          <a:xfrm>
            <a:off x="839700" y="233600"/>
            <a:ext cx="7464600" cy="69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NUTRITIONAL ADEQUACY</a:t>
            </a:r>
            <a:endParaRPr b="1" sz="3000">
              <a:solidFill>
                <a:schemeClr val="accent1"/>
              </a:solidFill>
              <a:latin typeface="Livvic"/>
              <a:ea typeface="Livvic"/>
              <a:cs typeface="Livvic"/>
              <a:sym typeface="Livvic"/>
            </a:endParaRPr>
          </a:p>
        </p:txBody>
      </p:sp>
      <p:pic>
        <p:nvPicPr>
          <p:cNvPr id="256" name="Google Shape;256;p37"/>
          <p:cNvPicPr preferRelativeResize="0"/>
          <p:nvPr/>
        </p:nvPicPr>
        <p:blipFill>
          <a:blip r:embed="rId3">
            <a:alphaModFix/>
          </a:blip>
          <a:stretch>
            <a:fillRect/>
          </a:stretch>
        </p:blipFill>
        <p:spPr>
          <a:xfrm>
            <a:off x="1404400" y="1120500"/>
            <a:ext cx="6335204" cy="3768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60" name="Shape 260"/>
        <p:cNvGrpSpPr/>
        <p:nvPr/>
      </p:nvGrpSpPr>
      <p:grpSpPr>
        <a:xfrm>
          <a:off x="0" y="0"/>
          <a:ext cx="0" cy="0"/>
          <a:chOff x="0" y="0"/>
          <a:chExt cx="0" cy="0"/>
        </a:xfrm>
      </p:grpSpPr>
      <p:sp>
        <p:nvSpPr>
          <p:cNvPr id="261" name="Google Shape;261;p38"/>
          <p:cNvSpPr txBox="1"/>
          <p:nvPr>
            <p:ph type="ctrTitle"/>
          </p:nvPr>
        </p:nvSpPr>
        <p:spPr>
          <a:xfrm>
            <a:off x="1039575" y="1701225"/>
            <a:ext cx="4592400" cy="17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chemeClr val="lt1"/>
                </a:solidFill>
              </a:rPr>
              <a:t>EVALUATING RAINFALL SHOCK </a:t>
            </a:r>
            <a:endParaRPr sz="40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idx="1" type="subTitle"/>
          </p:nvPr>
        </p:nvSpPr>
        <p:spPr>
          <a:xfrm>
            <a:off x="4921575" y="3553810"/>
            <a:ext cx="15222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Despite being red, Mars is a cold place, not hot. It’s full of iron oxide dust, which gives the planet its reddish cast</a:t>
            </a:r>
            <a:endParaRPr>
              <a:solidFill>
                <a:schemeClr val="lt1"/>
              </a:solidFill>
            </a:endParaRPr>
          </a:p>
        </p:txBody>
      </p:sp>
      <p:sp>
        <p:nvSpPr>
          <p:cNvPr id="267" name="Google Shape;267;p39"/>
          <p:cNvSpPr txBox="1"/>
          <p:nvPr>
            <p:ph idx="3" type="subTitle"/>
          </p:nvPr>
        </p:nvSpPr>
        <p:spPr>
          <a:xfrm>
            <a:off x="906139" y="3553810"/>
            <a:ext cx="15222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Yes, Saturn is the ringed one. This planet is a gas giant, and it’s composed mostly of hydrogen and helium</a:t>
            </a:r>
            <a:endParaRPr>
              <a:solidFill>
                <a:schemeClr val="lt1"/>
              </a:solidFill>
            </a:endParaRPr>
          </a:p>
        </p:txBody>
      </p:sp>
      <p:sp>
        <p:nvSpPr>
          <p:cNvPr id="268" name="Google Shape;268;p39"/>
          <p:cNvSpPr txBox="1"/>
          <p:nvPr>
            <p:ph idx="2" type="ctrTitle"/>
          </p:nvPr>
        </p:nvSpPr>
        <p:spPr>
          <a:xfrm>
            <a:off x="906139" y="2993035"/>
            <a:ext cx="1828200" cy="6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GAS PIPELINES</a:t>
            </a:r>
            <a:endParaRPr/>
          </a:p>
        </p:txBody>
      </p:sp>
      <p:sp>
        <p:nvSpPr>
          <p:cNvPr id="269" name="Google Shape;269;p39"/>
          <p:cNvSpPr txBox="1"/>
          <p:nvPr>
            <p:ph type="ctrTitle"/>
          </p:nvPr>
        </p:nvSpPr>
        <p:spPr>
          <a:xfrm>
            <a:off x="4921575" y="2993035"/>
            <a:ext cx="1828200" cy="6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WATER TREATMENT PLANTS</a:t>
            </a:r>
            <a:endParaRPr/>
          </a:p>
        </p:txBody>
      </p:sp>
      <p:sp>
        <p:nvSpPr>
          <p:cNvPr id="270" name="Google Shape;270;p39"/>
          <p:cNvSpPr txBox="1"/>
          <p:nvPr>
            <p:ph idx="5" type="ctrTitle"/>
          </p:nvPr>
        </p:nvSpPr>
        <p:spPr>
          <a:xfrm>
            <a:off x="2928557" y="2993035"/>
            <a:ext cx="1798800" cy="6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TUNNEL WORKS</a:t>
            </a:r>
            <a:endParaRPr/>
          </a:p>
        </p:txBody>
      </p:sp>
      <p:sp>
        <p:nvSpPr>
          <p:cNvPr id="271" name="Google Shape;271;p39"/>
          <p:cNvSpPr txBox="1"/>
          <p:nvPr>
            <p:ph idx="6" type="subTitle"/>
          </p:nvPr>
        </p:nvSpPr>
        <p:spPr>
          <a:xfrm>
            <a:off x="2928550" y="3553810"/>
            <a:ext cx="14763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Jupiter is a gas giant and the biggest planet in our Solar System. It’s the fourth-brightest object in the sky</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272" name="Google Shape;272;p39"/>
          <p:cNvSpPr txBox="1"/>
          <p:nvPr/>
        </p:nvSpPr>
        <p:spPr>
          <a:xfrm>
            <a:off x="228600" y="234925"/>
            <a:ext cx="8686800" cy="131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accent1"/>
                </a:solidFill>
                <a:latin typeface="Livvic"/>
                <a:ea typeface="Livvic"/>
                <a:cs typeface="Livvic"/>
                <a:sym typeface="Livvic"/>
              </a:rPr>
              <a:t>EXPENDITURE &amp; PRECIPITATION</a:t>
            </a:r>
            <a:endParaRPr b="1" sz="3000">
              <a:solidFill>
                <a:schemeClr val="accent1"/>
              </a:solidFill>
              <a:latin typeface="Livvic"/>
              <a:ea typeface="Livvic"/>
              <a:cs typeface="Livvic"/>
              <a:sym typeface="Livvic"/>
            </a:endParaRPr>
          </a:p>
        </p:txBody>
      </p:sp>
      <p:pic>
        <p:nvPicPr>
          <p:cNvPr id="273" name="Google Shape;273;p39"/>
          <p:cNvPicPr preferRelativeResize="0"/>
          <p:nvPr/>
        </p:nvPicPr>
        <p:blipFill>
          <a:blip r:embed="rId3">
            <a:alphaModFix/>
          </a:blip>
          <a:stretch>
            <a:fillRect/>
          </a:stretch>
        </p:blipFill>
        <p:spPr>
          <a:xfrm>
            <a:off x="889000" y="1107852"/>
            <a:ext cx="7365998" cy="36082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742825" y="361725"/>
            <a:ext cx="7930500" cy="72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WELFARE IMPACT</a:t>
            </a:r>
            <a:endParaRPr sz="3000">
              <a:solidFill>
                <a:schemeClr val="accent1"/>
              </a:solidFill>
            </a:endParaRPr>
          </a:p>
          <a:p>
            <a:pPr indent="0" lvl="0" marL="0" rtl="0" algn="ctr">
              <a:spcBef>
                <a:spcPts val="0"/>
              </a:spcBef>
              <a:spcAft>
                <a:spcPts val="0"/>
              </a:spcAft>
              <a:buNone/>
            </a:pPr>
            <a:r>
              <a:t/>
            </a:r>
            <a:endParaRPr sz="4000">
              <a:solidFill>
                <a:srgbClr val="000000"/>
              </a:solidFill>
              <a:latin typeface="Oswald"/>
              <a:ea typeface="Oswald"/>
              <a:cs typeface="Oswald"/>
              <a:sym typeface="Oswald"/>
            </a:endParaRPr>
          </a:p>
          <a:p>
            <a:pPr indent="0" lvl="0" marL="0" rtl="0" algn="ctr">
              <a:spcBef>
                <a:spcPts val="0"/>
              </a:spcBef>
              <a:spcAft>
                <a:spcPts val="0"/>
              </a:spcAft>
              <a:buNone/>
            </a:pPr>
            <a:r>
              <a:t/>
            </a:r>
            <a:endParaRPr/>
          </a:p>
        </p:txBody>
      </p:sp>
      <p:pic>
        <p:nvPicPr>
          <p:cNvPr id="279" name="Google Shape;279;p40"/>
          <p:cNvPicPr preferRelativeResize="0"/>
          <p:nvPr/>
        </p:nvPicPr>
        <p:blipFill>
          <a:blip r:embed="rId3">
            <a:alphaModFix/>
          </a:blip>
          <a:stretch>
            <a:fillRect/>
          </a:stretch>
        </p:blipFill>
        <p:spPr>
          <a:xfrm>
            <a:off x="237050" y="1088025"/>
            <a:ext cx="4230201" cy="1810798"/>
          </a:xfrm>
          <a:prstGeom prst="rect">
            <a:avLst/>
          </a:prstGeom>
          <a:noFill/>
          <a:ln>
            <a:noFill/>
          </a:ln>
        </p:spPr>
      </p:pic>
      <p:pic>
        <p:nvPicPr>
          <p:cNvPr id="280" name="Google Shape;280;p40"/>
          <p:cNvPicPr preferRelativeResize="0"/>
          <p:nvPr/>
        </p:nvPicPr>
        <p:blipFill>
          <a:blip r:embed="rId4">
            <a:alphaModFix/>
          </a:blip>
          <a:stretch>
            <a:fillRect/>
          </a:stretch>
        </p:blipFill>
        <p:spPr>
          <a:xfrm>
            <a:off x="4566675" y="3179225"/>
            <a:ext cx="4360638" cy="1806076"/>
          </a:xfrm>
          <a:prstGeom prst="rect">
            <a:avLst/>
          </a:prstGeom>
          <a:noFill/>
          <a:ln>
            <a:noFill/>
          </a:ln>
        </p:spPr>
      </p:pic>
      <p:sp>
        <p:nvSpPr>
          <p:cNvPr id="281" name="Google Shape;281;p40"/>
          <p:cNvSpPr/>
          <p:nvPr/>
        </p:nvSpPr>
        <p:spPr>
          <a:xfrm>
            <a:off x="5173575" y="1313450"/>
            <a:ext cx="3268500" cy="1002600"/>
          </a:xfrm>
          <a:prstGeom prst="round2DiagRect">
            <a:avLst>
              <a:gd fmla="val 1666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Light"/>
                <a:ea typeface="Catamaran Light"/>
                <a:cs typeface="Catamaran Light"/>
                <a:sym typeface="Catamaran Light"/>
              </a:rPr>
              <a:t> ← All Regions</a:t>
            </a:r>
            <a:endParaRPr>
              <a:latin typeface="Catamaran Light"/>
              <a:ea typeface="Catamaran Light"/>
              <a:cs typeface="Catamaran Light"/>
              <a:sym typeface="Catamaran Light"/>
            </a:endParaRPr>
          </a:p>
        </p:txBody>
      </p:sp>
      <p:sp>
        <p:nvSpPr>
          <p:cNvPr id="282" name="Google Shape;282;p40"/>
          <p:cNvSpPr/>
          <p:nvPr/>
        </p:nvSpPr>
        <p:spPr>
          <a:xfrm>
            <a:off x="623625" y="3481125"/>
            <a:ext cx="3268500" cy="1002600"/>
          </a:xfrm>
          <a:prstGeom prst="round2DiagRect">
            <a:avLst>
              <a:gd fmla="val 1666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Light"/>
                <a:ea typeface="Catamaran Light"/>
                <a:cs typeface="Catamaran Light"/>
                <a:sym typeface="Catamaran Light"/>
              </a:rPr>
              <a:t>Only Western Region →</a:t>
            </a:r>
            <a:endParaRPr>
              <a:latin typeface="Catamaran Light"/>
              <a:ea typeface="Catamaran Light"/>
              <a:cs typeface="Catamaran Light"/>
              <a:sym typeface="Catamaran Light"/>
            </a:endParaRPr>
          </a:p>
        </p:txBody>
      </p:sp>
      <p:sp>
        <p:nvSpPr>
          <p:cNvPr id="283" name="Google Shape;283;p40"/>
          <p:cNvSpPr/>
          <p:nvPr/>
        </p:nvSpPr>
        <p:spPr>
          <a:xfrm>
            <a:off x="206150" y="1046400"/>
            <a:ext cx="4360500" cy="1891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284" name="Google Shape;284;p40"/>
          <p:cNvSpPr/>
          <p:nvPr/>
        </p:nvSpPr>
        <p:spPr>
          <a:xfrm>
            <a:off x="4566750" y="3117375"/>
            <a:ext cx="4360500" cy="1891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742825" y="361725"/>
            <a:ext cx="7930500" cy="72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WELFARE KDE </a:t>
            </a:r>
            <a:endParaRPr sz="3000">
              <a:solidFill>
                <a:schemeClr val="accent1"/>
              </a:solidFill>
            </a:endParaRPr>
          </a:p>
          <a:p>
            <a:pPr indent="0" lvl="0" marL="0" rtl="0" algn="ctr">
              <a:spcBef>
                <a:spcPts val="0"/>
              </a:spcBef>
              <a:spcAft>
                <a:spcPts val="0"/>
              </a:spcAft>
              <a:buNone/>
            </a:pPr>
            <a:r>
              <a:t/>
            </a:r>
            <a:endParaRPr sz="4000">
              <a:solidFill>
                <a:srgbClr val="000000"/>
              </a:solidFill>
              <a:latin typeface="Oswald"/>
              <a:ea typeface="Oswald"/>
              <a:cs typeface="Oswald"/>
              <a:sym typeface="Oswald"/>
            </a:endParaRPr>
          </a:p>
          <a:p>
            <a:pPr indent="0" lvl="0" marL="0" rtl="0" algn="ctr">
              <a:spcBef>
                <a:spcPts val="0"/>
              </a:spcBef>
              <a:spcAft>
                <a:spcPts val="0"/>
              </a:spcAft>
              <a:buNone/>
            </a:pPr>
            <a:r>
              <a:t/>
            </a:r>
            <a:endParaRPr/>
          </a:p>
        </p:txBody>
      </p:sp>
      <p:pic>
        <p:nvPicPr>
          <p:cNvPr id="290" name="Google Shape;290;p41"/>
          <p:cNvPicPr preferRelativeResize="0"/>
          <p:nvPr/>
        </p:nvPicPr>
        <p:blipFill>
          <a:blip r:embed="rId3">
            <a:alphaModFix/>
          </a:blip>
          <a:stretch>
            <a:fillRect/>
          </a:stretch>
        </p:blipFill>
        <p:spPr>
          <a:xfrm>
            <a:off x="4819106" y="1266727"/>
            <a:ext cx="4149258" cy="3644850"/>
          </a:xfrm>
          <a:prstGeom prst="rect">
            <a:avLst/>
          </a:prstGeom>
          <a:noFill/>
          <a:ln>
            <a:noFill/>
          </a:ln>
        </p:spPr>
      </p:pic>
      <p:pic>
        <p:nvPicPr>
          <p:cNvPr id="291" name="Google Shape;291;p41" title="Screenshot 2025-04-10 114519.png"/>
          <p:cNvPicPr preferRelativeResize="0"/>
          <p:nvPr/>
        </p:nvPicPr>
        <p:blipFill>
          <a:blip r:embed="rId4">
            <a:alphaModFix/>
          </a:blip>
          <a:stretch>
            <a:fillRect/>
          </a:stretch>
        </p:blipFill>
        <p:spPr>
          <a:xfrm>
            <a:off x="175638" y="1298663"/>
            <a:ext cx="4039625" cy="3580948"/>
          </a:xfrm>
          <a:prstGeom prst="rect">
            <a:avLst/>
          </a:prstGeom>
          <a:noFill/>
          <a:ln>
            <a:noFill/>
          </a:ln>
        </p:spPr>
      </p:pic>
      <p:cxnSp>
        <p:nvCxnSpPr>
          <p:cNvPr id="292" name="Google Shape;292;p41"/>
          <p:cNvCxnSpPr/>
          <p:nvPr/>
        </p:nvCxnSpPr>
        <p:spPr>
          <a:xfrm>
            <a:off x="2066875" y="1886325"/>
            <a:ext cx="12300" cy="2656800"/>
          </a:xfrm>
          <a:prstGeom prst="straightConnector1">
            <a:avLst/>
          </a:prstGeom>
          <a:noFill/>
          <a:ln cap="flat" cmpd="sng" w="9525">
            <a:solidFill>
              <a:srgbClr val="0000FF"/>
            </a:solidFill>
            <a:prstDash val="lgDashDot"/>
            <a:round/>
            <a:headEnd len="med" w="med" type="none"/>
            <a:tailEnd len="med" w="med" type="none"/>
          </a:ln>
        </p:spPr>
      </p:cxnSp>
      <p:cxnSp>
        <p:nvCxnSpPr>
          <p:cNvPr id="293" name="Google Shape;293;p41"/>
          <p:cNvCxnSpPr/>
          <p:nvPr/>
        </p:nvCxnSpPr>
        <p:spPr>
          <a:xfrm>
            <a:off x="6857275" y="1827075"/>
            <a:ext cx="21900" cy="2761200"/>
          </a:xfrm>
          <a:prstGeom prst="straightConnector1">
            <a:avLst/>
          </a:prstGeom>
          <a:noFill/>
          <a:ln cap="flat" cmpd="sng" w="9525">
            <a:solidFill>
              <a:srgbClr val="0000FF"/>
            </a:solidFill>
            <a:prstDash val="lgDashDot"/>
            <a:round/>
            <a:headEnd len="med" w="med" type="none"/>
            <a:tailEnd len="med" w="med" type="none"/>
          </a:ln>
        </p:spPr>
      </p:cxnSp>
      <p:cxnSp>
        <p:nvCxnSpPr>
          <p:cNvPr id="294" name="Google Shape;294;p41"/>
          <p:cNvCxnSpPr/>
          <p:nvPr/>
        </p:nvCxnSpPr>
        <p:spPr>
          <a:xfrm>
            <a:off x="2371000" y="1651250"/>
            <a:ext cx="25200" cy="2875800"/>
          </a:xfrm>
          <a:prstGeom prst="straightConnector1">
            <a:avLst/>
          </a:prstGeom>
          <a:noFill/>
          <a:ln cap="flat" cmpd="sng" w="9525">
            <a:solidFill>
              <a:srgbClr val="FF0000"/>
            </a:solidFill>
            <a:prstDash val="lgDashDot"/>
            <a:round/>
            <a:headEnd len="med" w="med" type="none"/>
            <a:tailEnd len="med" w="med" type="none"/>
          </a:ln>
        </p:spPr>
      </p:cxnSp>
      <p:cxnSp>
        <p:nvCxnSpPr>
          <p:cNvPr id="295" name="Google Shape;295;p41"/>
          <p:cNvCxnSpPr/>
          <p:nvPr/>
        </p:nvCxnSpPr>
        <p:spPr>
          <a:xfrm>
            <a:off x="6881138" y="1607775"/>
            <a:ext cx="30300" cy="2974800"/>
          </a:xfrm>
          <a:prstGeom prst="straightConnector1">
            <a:avLst/>
          </a:prstGeom>
          <a:noFill/>
          <a:ln cap="flat" cmpd="sng" w="9525">
            <a:solidFill>
              <a:srgbClr val="FF0000"/>
            </a:solidFill>
            <a:prstDash val="lgDashDot"/>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742825" y="361725"/>
            <a:ext cx="7930500" cy="72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WESTERN UGANDA CHARACTERISTICS</a:t>
            </a:r>
            <a:endParaRPr sz="3000">
              <a:solidFill>
                <a:schemeClr val="accent1"/>
              </a:solidFill>
            </a:endParaRPr>
          </a:p>
          <a:p>
            <a:pPr indent="0" lvl="0" marL="0" rtl="0" algn="ctr">
              <a:spcBef>
                <a:spcPts val="0"/>
              </a:spcBef>
              <a:spcAft>
                <a:spcPts val="0"/>
              </a:spcAft>
              <a:buNone/>
            </a:pPr>
            <a:r>
              <a:t/>
            </a:r>
            <a:endParaRPr sz="4000">
              <a:solidFill>
                <a:srgbClr val="000000"/>
              </a:solidFill>
              <a:latin typeface="Oswald"/>
              <a:ea typeface="Oswald"/>
              <a:cs typeface="Oswald"/>
              <a:sym typeface="Oswald"/>
            </a:endParaRPr>
          </a:p>
          <a:p>
            <a:pPr indent="0" lvl="0" marL="0" rtl="0" algn="ctr">
              <a:spcBef>
                <a:spcPts val="0"/>
              </a:spcBef>
              <a:spcAft>
                <a:spcPts val="0"/>
              </a:spcAft>
              <a:buNone/>
            </a:pPr>
            <a:r>
              <a:t/>
            </a:r>
            <a:endParaRPr/>
          </a:p>
        </p:txBody>
      </p:sp>
      <p:sp>
        <p:nvSpPr>
          <p:cNvPr id="301" name="Google Shape;301;p42"/>
          <p:cNvSpPr txBox="1"/>
          <p:nvPr/>
        </p:nvSpPr>
        <p:spPr>
          <a:xfrm>
            <a:off x="2205100" y="1088025"/>
            <a:ext cx="64683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tamaran Light"/>
                <a:ea typeface="Catamaran Light"/>
                <a:cs typeface="Catamaran Light"/>
                <a:sym typeface="Catamaran Light"/>
              </a:rPr>
              <a:t>The Western region can be distinguished from others on the basis of its economic dependence on rain-fed agriculture. Specifically:</a:t>
            </a:r>
            <a:r>
              <a:rPr b="1" lang="en" sz="1700">
                <a:solidFill>
                  <a:schemeClr val="dk1"/>
                </a:solidFill>
                <a:latin typeface="Catamaran"/>
                <a:ea typeface="Catamaran"/>
                <a:cs typeface="Catamaran"/>
                <a:sym typeface="Catamaran"/>
              </a:rPr>
              <a:t> Bananas! (aka Matoke) </a:t>
            </a:r>
            <a:r>
              <a:rPr lang="en" sz="1700">
                <a:solidFill>
                  <a:schemeClr val="dk1"/>
                </a:solidFill>
                <a:latin typeface="Catamaran Light"/>
                <a:ea typeface="Catamaran Light"/>
                <a:cs typeface="Catamaran Light"/>
                <a:sym typeface="Catamaran Light"/>
              </a:rPr>
              <a:t>The Western region produces over double the amount of bananas as any other region.</a:t>
            </a:r>
            <a:endParaRPr sz="1700">
              <a:solidFill>
                <a:schemeClr val="dk1"/>
              </a:solidFill>
              <a:latin typeface="Catamaran Light"/>
              <a:ea typeface="Catamaran Light"/>
              <a:cs typeface="Catamaran Light"/>
              <a:sym typeface="Catamaran Light"/>
            </a:endParaRPr>
          </a:p>
        </p:txBody>
      </p:sp>
      <p:pic>
        <p:nvPicPr>
          <p:cNvPr id="302" name="Google Shape;302;p42"/>
          <p:cNvPicPr preferRelativeResize="0"/>
          <p:nvPr/>
        </p:nvPicPr>
        <p:blipFill>
          <a:blip r:embed="rId3">
            <a:alphaModFix/>
          </a:blip>
          <a:stretch>
            <a:fillRect/>
          </a:stretch>
        </p:blipFill>
        <p:spPr>
          <a:xfrm>
            <a:off x="624750" y="1074338"/>
            <a:ext cx="1258875" cy="1258875"/>
          </a:xfrm>
          <a:prstGeom prst="rect">
            <a:avLst/>
          </a:prstGeom>
          <a:noFill/>
          <a:ln>
            <a:noFill/>
          </a:ln>
        </p:spPr>
      </p:pic>
      <p:graphicFrame>
        <p:nvGraphicFramePr>
          <p:cNvPr id="303" name="Google Shape;303;p42"/>
          <p:cNvGraphicFramePr/>
          <p:nvPr/>
        </p:nvGraphicFramePr>
        <p:xfrm>
          <a:off x="91375" y="2524775"/>
          <a:ext cx="3000000" cy="3000000"/>
        </p:xfrm>
        <a:graphic>
          <a:graphicData uri="http://schemas.openxmlformats.org/drawingml/2006/table">
            <a:tbl>
              <a:tblPr>
                <a:noFill/>
                <a:tableStyleId>{F688EAEF-F006-4E93-822F-C438E4EB62B6}</a:tableStyleId>
              </a:tblPr>
              <a:tblGrid>
                <a:gridCol w="1792250"/>
                <a:gridCol w="1792250"/>
                <a:gridCol w="1792250"/>
                <a:gridCol w="1792250"/>
                <a:gridCol w="1792250"/>
              </a:tblGrid>
              <a:tr h="362675">
                <a:tc>
                  <a:txBody>
                    <a:bodyPr/>
                    <a:lstStyle/>
                    <a:p>
                      <a:pPr indent="0" lvl="0" marL="0" rtl="0" algn="l">
                        <a:spcBef>
                          <a:spcPts val="0"/>
                        </a:spcBef>
                        <a:spcAft>
                          <a:spcPts val="0"/>
                        </a:spcAft>
                        <a:buNone/>
                      </a:pPr>
                      <a:r>
                        <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gridSpan="4">
                  <a:txBody>
                    <a:bodyPr/>
                    <a:lstStyle/>
                    <a:p>
                      <a:pPr indent="0" lvl="0" marL="0" rtl="0" algn="l">
                        <a:spcBef>
                          <a:spcPts val="0"/>
                        </a:spcBef>
                        <a:spcAft>
                          <a:spcPts val="0"/>
                        </a:spcAft>
                        <a:buNone/>
                      </a:pPr>
                      <a:r>
                        <a:rPr b="1" lang="en"/>
                        <a:t>Production [Metric tons]</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hMerge="1"/>
                <a:tc hMerge="1"/>
                <a:tc hMerge="1"/>
              </a:tr>
              <a:tr h="362675">
                <a:tc>
                  <a:txBody>
                    <a:bodyPr/>
                    <a:lstStyle/>
                    <a:p>
                      <a:pPr indent="0" lvl="0" marL="0" rtl="0" algn="l">
                        <a:spcBef>
                          <a:spcPts val="0"/>
                        </a:spcBef>
                        <a:spcAft>
                          <a:spcPts val="0"/>
                        </a:spcAft>
                        <a:buNone/>
                      </a:pPr>
                      <a:r>
                        <a:rPr b="1" lang="en"/>
                        <a:t>Crop</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b="1" lang="en"/>
                        <a:t>Central</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t>Eastern</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t>Northern</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t>Western</a:t>
                      </a:r>
                      <a:endParaRPr b="1"/>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rgbClr val="F4CCCC"/>
                    </a:solidFill>
                  </a:tcPr>
                </a:tc>
              </a:tr>
              <a:tr h="557950">
                <a:tc>
                  <a:txBody>
                    <a:bodyPr/>
                    <a:lstStyle/>
                    <a:p>
                      <a:pPr indent="0" lvl="0" marL="0" rtl="0" algn="l">
                        <a:spcBef>
                          <a:spcPts val="0"/>
                        </a:spcBef>
                        <a:spcAft>
                          <a:spcPts val="0"/>
                        </a:spcAft>
                        <a:buNone/>
                      </a:pPr>
                      <a:r>
                        <a:rPr lang="en"/>
                        <a:t>Banana (Food type)</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t>929,534</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333,851</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26,015</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2,728,587</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rgbClr val="F4CCCC"/>
                    </a:solidFill>
                  </a:tcPr>
                </a:tc>
              </a:tr>
              <a:tr h="557950">
                <a:tc>
                  <a:txBody>
                    <a:bodyPr/>
                    <a:lstStyle/>
                    <a:p>
                      <a:pPr indent="0" lvl="0" marL="0" rtl="0" algn="l">
                        <a:spcBef>
                          <a:spcPts val="0"/>
                        </a:spcBef>
                        <a:spcAft>
                          <a:spcPts val="0"/>
                        </a:spcAft>
                        <a:buNone/>
                      </a:pPr>
                      <a:r>
                        <a:rPr lang="en"/>
                        <a:t>Banana (Sweet type)</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t>11,319</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3,117</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4,630</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17,447</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rgbClr val="F4CCCC"/>
                    </a:solidFill>
                  </a:tcPr>
                </a:tc>
              </a:tr>
              <a:tr h="557950">
                <a:tc>
                  <a:txBody>
                    <a:bodyPr/>
                    <a:lstStyle/>
                    <a:p>
                      <a:pPr indent="0" lvl="0" marL="0" rtl="0" algn="l">
                        <a:spcBef>
                          <a:spcPts val="0"/>
                        </a:spcBef>
                        <a:spcAft>
                          <a:spcPts val="0"/>
                        </a:spcAft>
                        <a:buNone/>
                      </a:pPr>
                      <a:r>
                        <a:rPr lang="en"/>
                        <a:t>Banana (Beer type)</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t>98,984</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5,266</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981</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a:t>137,614</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type="ctrTitle"/>
          </p:nvPr>
        </p:nvSpPr>
        <p:spPr>
          <a:xfrm>
            <a:off x="831200" y="376498"/>
            <a:ext cx="3867300" cy="20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lang="en" sz="3000">
                <a:solidFill>
                  <a:schemeClr val="accent1"/>
                </a:solidFill>
              </a:rPr>
              <a:t>CONSUMPTION &amp; PRECIPITATION</a:t>
            </a:r>
            <a:endParaRPr sz="3000">
              <a:solidFill>
                <a:schemeClr val="accent1"/>
              </a:solidFill>
            </a:endParaRPr>
          </a:p>
          <a:p>
            <a:pPr indent="0" lvl="0" marL="0" rtl="0" algn="l">
              <a:spcBef>
                <a:spcPts val="0"/>
              </a:spcBef>
              <a:spcAft>
                <a:spcPts val="0"/>
              </a:spcAft>
              <a:buNone/>
            </a:pPr>
            <a:r>
              <a:t/>
            </a:r>
            <a:endParaRPr/>
          </a:p>
        </p:txBody>
      </p:sp>
      <p:sp>
        <p:nvSpPr>
          <p:cNvPr id="309" name="Google Shape;309;p43"/>
          <p:cNvSpPr txBox="1"/>
          <p:nvPr>
            <p:ph idx="1" type="subTitle"/>
          </p:nvPr>
        </p:nvSpPr>
        <p:spPr>
          <a:xfrm>
            <a:off x="831200" y="2314225"/>
            <a:ext cx="3316500" cy="18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000000"/>
                </a:solidFill>
                <a:latin typeface="Livvic"/>
                <a:ea typeface="Livvic"/>
                <a:cs typeface="Livvic"/>
                <a:sym typeface="Livvic"/>
              </a:rPr>
              <a:t>📉 Food spending dropped 25% during the 2010–11 drought</a:t>
            </a:r>
            <a:br>
              <a:rPr b="1" lang="en" sz="1300">
                <a:solidFill>
                  <a:srgbClr val="000000"/>
                </a:solidFill>
                <a:latin typeface="Livvic"/>
                <a:ea typeface="Livvic"/>
                <a:cs typeface="Livvic"/>
                <a:sym typeface="Livvic"/>
              </a:rPr>
            </a:br>
            <a:endParaRPr b="1" sz="1300">
              <a:solidFill>
                <a:srgbClr val="000000"/>
              </a:solidFill>
              <a:latin typeface="Livvic"/>
              <a:ea typeface="Livvic"/>
              <a:cs typeface="Livvic"/>
              <a:sym typeface="Livvic"/>
            </a:endParaRPr>
          </a:p>
          <a:p>
            <a:pPr indent="0" lvl="0" marL="0" rtl="0" algn="l">
              <a:spcBef>
                <a:spcPts val="0"/>
              </a:spcBef>
              <a:spcAft>
                <a:spcPts val="0"/>
              </a:spcAft>
              <a:buNone/>
            </a:pPr>
            <a:r>
              <a:rPr b="1" lang="en" sz="1300">
                <a:solidFill>
                  <a:srgbClr val="000000"/>
                </a:solidFill>
                <a:latin typeface="Livvic"/>
                <a:ea typeface="Livvic"/>
                <a:cs typeface="Livvic"/>
                <a:sym typeface="Livvic"/>
              </a:rPr>
              <a:t>🌧️ Rainfall shortages reduced crop yields and market supply</a:t>
            </a:r>
            <a:br>
              <a:rPr b="1" lang="en" sz="1300">
                <a:solidFill>
                  <a:srgbClr val="000000"/>
                </a:solidFill>
                <a:latin typeface="Livvic"/>
                <a:ea typeface="Livvic"/>
                <a:cs typeface="Livvic"/>
                <a:sym typeface="Livvic"/>
              </a:rPr>
            </a:br>
            <a:endParaRPr b="1" sz="1300">
              <a:solidFill>
                <a:srgbClr val="000000"/>
              </a:solidFill>
              <a:latin typeface="Livvic"/>
              <a:ea typeface="Livvic"/>
              <a:cs typeface="Livvic"/>
              <a:sym typeface="Livvic"/>
            </a:endParaRPr>
          </a:p>
          <a:p>
            <a:pPr indent="0" lvl="0" marL="0" rtl="0" algn="l">
              <a:spcBef>
                <a:spcPts val="0"/>
              </a:spcBef>
              <a:spcAft>
                <a:spcPts val="0"/>
              </a:spcAft>
              <a:buNone/>
            </a:pPr>
            <a:r>
              <a:rPr b="1" lang="en" sz="1300">
                <a:solidFill>
                  <a:srgbClr val="000000"/>
                </a:solidFill>
                <a:latin typeface="Livvic"/>
                <a:ea typeface="Livvic"/>
                <a:cs typeface="Livvic"/>
                <a:sym typeface="Livvic"/>
              </a:rPr>
              <a:t>⚠️ Households adjusted by spending less and eating cheaper staples</a:t>
            </a:r>
            <a:endParaRPr b="1" sz="1300">
              <a:solidFill>
                <a:srgbClr val="000000"/>
              </a:solidFill>
              <a:latin typeface="Livvic"/>
              <a:ea typeface="Livvic"/>
              <a:cs typeface="Livvic"/>
              <a:sym typeface="Livvic"/>
            </a:endParaRPr>
          </a:p>
          <a:p>
            <a:pPr indent="0" lvl="0" marL="0" rtl="0" algn="l">
              <a:spcBef>
                <a:spcPts val="0"/>
              </a:spcBef>
              <a:spcAft>
                <a:spcPts val="0"/>
              </a:spcAft>
              <a:buNone/>
            </a:pPr>
            <a:r>
              <a:t/>
            </a:r>
            <a:endParaRPr b="1" sz="1300">
              <a:solidFill>
                <a:srgbClr val="000000"/>
              </a:solidFill>
              <a:latin typeface="Livvic"/>
              <a:ea typeface="Livvic"/>
              <a:cs typeface="Livvic"/>
              <a:sym typeface="Livvic"/>
            </a:endParaRPr>
          </a:p>
        </p:txBody>
      </p:sp>
      <p:pic>
        <p:nvPicPr>
          <p:cNvPr id="310" name="Google Shape;310;p43"/>
          <p:cNvPicPr preferRelativeResize="0"/>
          <p:nvPr/>
        </p:nvPicPr>
        <p:blipFill>
          <a:blip r:embed="rId3">
            <a:alphaModFix/>
          </a:blip>
          <a:stretch>
            <a:fillRect/>
          </a:stretch>
        </p:blipFill>
        <p:spPr>
          <a:xfrm>
            <a:off x="4698500" y="921063"/>
            <a:ext cx="4140700" cy="330136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ctrTitle"/>
          </p:nvPr>
        </p:nvSpPr>
        <p:spPr>
          <a:xfrm>
            <a:off x="831200" y="376500"/>
            <a:ext cx="3163800" cy="20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solidFill>
                  <a:schemeClr val="accent1"/>
                </a:solidFill>
              </a:rPr>
              <a:t>DRY AND WET YEARS</a:t>
            </a:r>
            <a:endParaRPr sz="4000">
              <a:solidFill>
                <a:srgbClr val="000000"/>
              </a:solidFill>
              <a:latin typeface="Oswald"/>
              <a:ea typeface="Oswald"/>
              <a:cs typeface="Oswald"/>
              <a:sym typeface="Oswald"/>
            </a:endParaRPr>
          </a:p>
          <a:p>
            <a:pPr indent="0" lvl="0" marL="0" rtl="0" algn="l">
              <a:lnSpc>
                <a:spcPct val="115000"/>
              </a:lnSpc>
              <a:spcBef>
                <a:spcPts val="1200"/>
              </a:spcBef>
              <a:spcAft>
                <a:spcPts val="1200"/>
              </a:spcAft>
              <a:buNone/>
            </a:pPr>
            <a:r>
              <a:rPr lang="en" sz="1100">
                <a:solidFill>
                  <a:srgbClr val="000000"/>
                </a:solidFill>
                <a:latin typeface="Arial"/>
                <a:ea typeface="Arial"/>
                <a:cs typeface="Arial"/>
                <a:sym typeface="Arial"/>
              </a:rPr>
              <a:t>“Households Consumed More in Wet Years with Stable Food Supply”</a:t>
            </a:r>
            <a:endParaRPr/>
          </a:p>
        </p:txBody>
      </p:sp>
      <p:sp>
        <p:nvSpPr>
          <p:cNvPr id="316" name="Google Shape;316;p44"/>
          <p:cNvSpPr txBox="1"/>
          <p:nvPr>
            <p:ph idx="1" type="subTitle"/>
          </p:nvPr>
        </p:nvSpPr>
        <p:spPr>
          <a:xfrm>
            <a:off x="831200" y="2314225"/>
            <a:ext cx="3081600" cy="178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latin typeface="Livvic"/>
                <a:ea typeface="Livvic"/>
                <a:cs typeface="Livvic"/>
                <a:sym typeface="Livvic"/>
              </a:rPr>
              <a:t>💧 2010–11 Drought Year → Avg. household food spending: UGX 42,529</a:t>
            </a:r>
            <a:br>
              <a:rPr b="1" lang="en">
                <a:solidFill>
                  <a:srgbClr val="000000"/>
                </a:solidFill>
                <a:latin typeface="Livvic"/>
                <a:ea typeface="Livvic"/>
                <a:cs typeface="Livvic"/>
                <a:sym typeface="Livvic"/>
              </a:rPr>
            </a:br>
            <a:endParaRPr b="1">
              <a:solidFill>
                <a:srgbClr val="000000"/>
              </a:solidFill>
              <a:latin typeface="Livvic"/>
              <a:ea typeface="Livvic"/>
              <a:cs typeface="Livvic"/>
              <a:sym typeface="Livvic"/>
            </a:endParaRPr>
          </a:p>
          <a:p>
            <a:pPr indent="0" lvl="0" marL="0" rtl="0" algn="l">
              <a:spcBef>
                <a:spcPts val="0"/>
              </a:spcBef>
              <a:spcAft>
                <a:spcPts val="0"/>
              </a:spcAft>
              <a:buNone/>
            </a:pPr>
            <a:r>
              <a:rPr b="1" lang="en">
                <a:solidFill>
                  <a:srgbClr val="000000"/>
                </a:solidFill>
                <a:latin typeface="Livvic"/>
                <a:ea typeface="Livvic"/>
                <a:cs typeface="Livvic"/>
                <a:sym typeface="Livvic"/>
              </a:rPr>
              <a:t>🌿 2015–16 Wet Year → Avg. spending rose to UGX 56,756 (+33%)</a:t>
            </a:r>
            <a:br>
              <a:rPr b="1" lang="en">
                <a:solidFill>
                  <a:srgbClr val="000000"/>
                </a:solidFill>
                <a:latin typeface="Livvic"/>
                <a:ea typeface="Livvic"/>
                <a:cs typeface="Livvic"/>
                <a:sym typeface="Livvic"/>
              </a:rPr>
            </a:br>
            <a:endParaRPr b="1">
              <a:solidFill>
                <a:srgbClr val="000000"/>
              </a:solidFill>
              <a:latin typeface="Livvic"/>
              <a:ea typeface="Livvic"/>
              <a:cs typeface="Livvic"/>
              <a:sym typeface="Livvic"/>
            </a:endParaRPr>
          </a:p>
          <a:p>
            <a:pPr indent="0" lvl="0" marL="0" rtl="0" algn="l">
              <a:spcBef>
                <a:spcPts val="0"/>
              </a:spcBef>
              <a:spcAft>
                <a:spcPts val="0"/>
              </a:spcAft>
              <a:buNone/>
            </a:pPr>
            <a:r>
              <a:rPr b="1" lang="en">
                <a:solidFill>
                  <a:srgbClr val="000000"/>
                </a:solidFill>
                <a:latin typeface="Livvic"/>
                <a:ea typeface="Livvic"/>
                <a:cs typeface="Livvic"/>
                <a:sym typeface="Livvic"/>
              </a:rPr>
              <a:t>📉 Reflects reduced food access and affordability during drought</a:t>
            </a:r>
            <a:endParaRPr b="1">
              <a:solidFill>
                <a:srgbClr val="000000"/>
              </a:solidFill>
              <a:latin typeface="Livvic"/>
              <a:ea typeface="Livvic"/>
              <a:cs typeface="Livvic"/>
              <a:sym typeface="Livvic"/>
            </a:endParaRPr>
          </a:p>
          <a:p>
            <a:pPr indent="0" lvl="0" marL="0" rtl="0" algn="l">
              <a:spcBef>
                <a:spcPts val="0"/>
              </a:spcBef>
              <a:spcAft>
                <a:spcPts val="0"/>
              </a:spcAft>
              <a:buNone/>
            </a:pPr>
            <a:r>
              <a:t/>
            </a:r>
            <a:endParaRPr b="1" sz="1300">
              <a:latin typeface="Livvic"/>
              <a:ea typeface="Livvic"/>
              <a:cs typeface="Livvic"/>
              <a:sym typeface="Livvic"/>
            </a:endParaRPr>
          </a:p>
        </p:txBody>
      </p:sp>
      <p:pic>
        <p:nvPicPr>
          <p:cNvPr id="317" name="Google Shape;317;p44"/>
          <p:cNvPicPr preferRelativeResize="0"/>
          <p:nvPr/>
        </p:nvPicPr>
        <p:blipFill>
          <a:blip r:embed="rId3">
            <a:alphaModFix/>
          </a:blip>
          <a:stretch>
            <a:fillRect/>
          </a:stretch>
        </p:blipFill>
        <p:spPr>
          <a:xfrm>
            <a:off x="4698500" y="882025"/>
            <a:ext cx="4140699" cy="321660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1" name="Shape 321"/>
        <p:cNvGrpSpPr/>
        <p:nvPr/>
      </p:nvGrpSpPr>
      <p:grpSpPr>
        <a:xfrm>
          <a:off x="0" y="0"/>
          <a:ext cx="0" cy="0"/>
          <a:chOff x="0" y="0"/>
          <a:chExt cx="0" cy="0"/>
        </a:xfrm>
      </p:grpSpPr>
      <p:sp>
        <p:nvSpPr>
          <p:cNvPr id="322" name="Google Shape;322;p45"/>
          <p:cNvSpPr txBox="1"/>
          <p:nvPr>
            <p:ph type="title"/>
          </p:nvPr>
        </p:nvSpPr>
        <p:spPr>
          <a:xfrm>
            <a:off x="949100" y="1783700"/>
            <a:ext cx="4194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lt1"/>
                </a:solidFill>
              </a:rPr>
              <a:t>CONCLUSIONS</a:t>
            </a:r>
            <a:endParaRPr sz="40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742825" y="361725"/>
            <a:ext cx="7930500" cy="72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FROM OUR DATA + RESEARCH…</a:t>
            </a:r>
            <a:endParaRPr sz="4000">
              <a:solidFill>
                <a:srgbClr val="000000"/>
              </a:solidFill>
              <a:latin typeface="Oswald"/>
              <a:ea typeface="Oswald"/>
              <a:cs typeface="Oswald"/>
              <a:sym typeface="Oswald"/>
            </a:endParaRPr>
          </a:p>
          <a:p>
            <a:pPr indent="0" lvl="0" marL="0" rtl="0" algn="ctr">
              <a:spcBef>
                <a:spcPts val="0"/>
              </a:spcBef>
              <a:spcAft>
                <a:spcPts val="0"/>
              </a:spcAft>
              <a:buNone/>
            </a:pPr>
            <a:r>
              <a:t/>
            </a:r>
            <a:endParaRPr/>
          </a:p>
        </p:txBody>
      </p:sp>
      <p:sp>
        <p:nvSpPr>
          <p:cNvPr id="328" name="Google Shape;328;p46"/>
          <p:cNvSpPr txBox="1"/>
          <p:nvPr/>
        </p:nvSpPr>
        <p:spPr>
          <a:xfrm>
            <a:off x="513875" y="1360950"/>
            <a:ext cx="8093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t/>
            </a:r>
            <a:endParaRPr b="1" sz="1200">
              <a:solidFill>
                <a:schemeClr val="dk1"/>
              </a:solidFill>
              <a:latin typeface="Livvic"/>
              <a:ea typeface="Livvic"/>
              <a:cs typeface="Livvic"/>
              <a:sym typeface="Livvic"/>
            </a:endParaRPr>
          </a:p>
          <a:p>
            <a:pPr indent="0" lvl="0" marL="0" rtl="0" algn="l">
              <a:spcBef>
                <a:spcPts val="0"/>
              </a:spcBef>
              <a:spcAft>
                <a:spcPts val="0"/>
              </a:spcAft>
              <a:buNone/>
            </a:pPr>
            <a:r>
              <a:rPr b="1" lang="en" sz="2000">
                <a:solidFill>
                  <a:schemeClr val="dk1"/>
                </a:solidFill>
                <a:latin typeface="Livvic"/>
                <a:ea typeface="Livvic"/>
                <a:cs typeface="Livvic"/>
                <a:sym typeface="Livvic"/>
              </a:rPr>
              <a:t>Further analysis:</a:t>
            </a:r>
            <a:r>
              <a:rPr lang="en" sz="2000">
                <a:solidFill>
                  <a:schemeClr val="dk1"/>
                </a:solidFill>
                <a:latin typeface="Livvic Light"/>
                <a:ea typeface="Livvic Light"/>
                <a:cs typeface="Livvic Light"/>
                <a:sym typeface="Livvic Light"/>
              </a:rPr>
              <a:t> Look into data on </a:t>
            </a:r>
            <a:r>
              <a:rPr lang="en" sz="2000">
                <a:solidFill>
                  <a:schemeClr val="dk1"/>
                </a:solidFill>
                <a:latin typeface="Livvic Light"/>
                <a:ea typeface="Livvic Light"/>
                <a:cs typeface="Livvic Light"/>
                <a:sym typeface="Livvic Light"/>
              </a:rPr>
              <a:t>specific</a:t>
            </a:r>
            <a:r>
              <a:rPr lang="en" sz="2000">
                <a:solidFill>
                  <a:schemeClr val="dk1"/>
                </a:solidFill>
                <a:latin typeface="Livvic Light"/>
                <a:ea typeface="Livvic Light"/>
                <a:cs typeface="Livvic Light"/>
                <a:sym typeface="Livvic Light"/>
              </a:rPr>
              <a:t> crops, or data on variation of imports in correspondence to rainfall patterns</a:t>
            </a:r>
            <a:endParaRPr sz="2000">
              <a:solidFill>
                <a:schemeClr val="dk1"/>
              </a:solidFill>
              <a:latin typeface="Livvic Light"/>
              <a:ea typeface="Livvic Light"/>
              <a:cs typeface="Livvic Light"/>
              <a:sym typeface="Livvic Light"/>
            </a:endParaRPr>
          </a:p>
        </p:txBody>
      </p:sp>
      <p:sp>
        <p:nvSpPr>
          <p:cNvPr id="329" name="Google Shape;329;p46"/>
          <p:cNvSpPr txBox="1"/>
          <p:nvPr/>
        </p:nvSpPr>
        <p:spPr>
          <a:xfrm>
            <a:off x="534975" y="1265650"/>
            <a:ext cx="7854900" cy="2703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Font typeface="Catamaran Light"/>
              <a:buChar char="●"/>
            </a:pPr>
            <a:r>
              <a:rPr lang="en" sz="2100">
                <a:solidFill>
                  <a:schemeClr val="dk1"/>
                </a:solidFill>
                <a:latin typeface="Catamaran Light"/>
                <a:ea typeface="Catamaran Light"/>
                <a:cs typeface="Catamaran Light"/>
                <a:sym typeface="Catamaran Light"/>
              </a:rPr>
              <a:t>Ugandan agriculture and food consumption is both impacted by annual rainfall totals and monthly levels throughout the year</a:t>
            </a:r>
            <a:endParaRPr sz="2100">
              <a:solidFill>
                <a:schemeClr val="dk1"/>
              </a:solidFill>
              <a:latin typeface="Catamaran Light"/>
              <a:ea typeface="Catamaran Light"/>
              <a:cs typeface="Catamaran Light"/>
              <a:sym typeface="Catamaran Light"/>
            </a:endParaRPr>
          </a:p>
          <a:p>
            <a:pPr indent="-361950" lvl="0" marL="457200" rtl="0" algn="l">
              <a:spcBef>
                <a:spcPts val="1000"/>
              </a:spcBef>
              <a:spcAft>
                <a:spcPts val="0"/>
              </a:spcAft>
              <a:buClr>
                <a:schemeClr val="dk1"/>
              </a:buClr>
              <a:buSzPts val="2100"/>
              <a:buFont typeface="Catamaran Light"/>
              <a:buChar char="●"/>
            </a:pPr>
            <a:r>
              <a:rPr lang="en" sz="2100">
                <a:solidFill>
                  <a:schemeClr val="dk1"/>
                </a:solidFill>
                <a:latin typeface="Catamaran Light"/>
                <a:ea typeface="Catamaran Light"/>
                <a:cs typeface="Catamaran Light"/>
                <a:sym typeface="Catamaran Light"/>
              </a:rPr>
              <a:t>Western Uganda was more receptive to welfare changes due to rainfall, likely due to their high production of matoke</a:t>
            </a:r>
            <a:endParaRPr sz="2100">
              <a:solidFill>
                <a:schemeClr val="dk1"/>
              </a:solidFill>
              <a:latin typeface="Catamaran Light"/>
              <a:ea typeface="Catamaran Light"/>
              <a:cs typeface="Catamaran Light"/>
              <a:sym typeface="Catamaran Light"/>
            </a:endParaRPr>
          </a:p>
          <a:p>
            <a:pPr indent="-361950" lvl="0" marL="457200" rtl="0" algn="l">
              <a:spcBef>
                <a:spcPts val="1000"/>
              </a:spcBef>
              <a:spcAft>
                <a:spcPts val="1000"/>
              </a:spcAft>
              <a:buClr>
                <a:schemeClr val="dk1"/>
              </a:buClr>
              <a:buSzPts val="2100"/>
              <a:buFont typeface="Catamaran Light"/>
              <a:buChar char="●"/>
            </a:pPr>
            <a:r>
              <a:rPr lang="en" sz="2100">
                <a:solidFill>
                  <a:schemeClr val="dk1"/>
                </a:solidFill>
                <a:latin typeface="Catamaran Light"/>
                <a:ea typeface="Catamaran Light"/>
                <a:cs typeface="Catamaran Light"/>
                <a:sym typeface="Catamaran Light"/>
              </a:rPr>
              <a:t>Drought conditions significantly reduce household food spending and dietary resilience, highlighting the vulnerability of food access to climatic pressures</a:t>
            </a:r>
            <a:endParaRPr sz="2100">
              <a:solidFill>
                <a:schemeClr val="dk1"/>
              </a:solidFill>
              <a:latin typeface="Catamaran Light"/>
              <a:ea typeface="Catamaran Light"/>
              <a:cs typeface="Catamaran Light"/>
              <a:sym typeface="Catamaran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Engineering Project Proposal by Slidesgo">
  <a:themeElements>
    <a:clrScheme name="Simple Light">
      <a:dk1>
        <a:srgbClr val="434343"/>
      </a:dk1>
      <a:lt1>
        <a:srgbClr val="FFFFFF"/>
      </a:lt1>
      <a:dk2>
        <a:srgbClr val="595959"/>
      </a:dk2>
      <a:lt2>
        <a:srgbClr val="EEEEEE"/>
      </a:lt2>
      <a:accent1>
        <a:srgbClr val="556D96"/>
      </a:accent1>
      <a:accent2>
        <a:srgbClr val="212121"/>
      </a:accent2>
      <a:accent3>
        <a:srgbClr val="A9B9D3"/>
      </a:accent3>
      <a:accent4>
        <a:srgbClr val="26529E"/>
      </a:accent4>
      <a:accent5>
        <a:srgbClr val="62779B"/>
      </a:accent5>
      <a:accent6>
        <a:srgbClr val="363F4C"/>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